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4"/>
    <p:sldMasterId id="2147483699" r:id="rId5"/>
    <p:sldMasterId id="2147483663" r:id="rId6"/>
    <p:sldMasterId id="2147483675" r:id="rId7"/>
  </p:sldMasterIdLst>
  <p:sldIdLst>
    <p:sldId id="477" r:id="rId8"/>
    <p:sldId id="5242" r:id="rId9"/>
    <p:sldId id="303" r:id="rId10"/>
    <p:sldId id="266" r:id="rId11"/>
    <p:sldId id="260" r:id="rId12"/>
    <p:sldId id="264" r:id="rId13"/>
    <p:sldId id="269" r:id="rId14"/>
    <p:sldId id="268" r:id="rId15"/>
    <p:sldId id="272" r:id="rId16"/>
    <p:sldId id="270" r:id="rId17"/>
    <p:sldId id="271" r:id="rId18"/>
    <p:sldId id="273" r:id="rId19"/>
    <p:sldId id="274" r:id="rId20"/>
    <p:sldId id="5224" r:id="rId21"/>
    <p:sldId id="309" r:id="rId22"/>
    <p:sldId id="265" r:id="rId23"/>
    <p:sldId id="275" r:id="rId24"/>
    <p:sldId id="276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8CB1"/>
    <a:srgbClr val="E6E8E9"/>
    <a:srgbClr val="008BB0"/>
    <a:srgbClr val="FF0066"/>
    <a:srgbClr val="00CC00"/>
    <a:srgbClr val="FF00FF"/>
    <a:srgbClr val="D1D8E1"/>
    <a:srgbClr val="7D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7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12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3C-470A-AF0E-7A983D4330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03C-470A-AF0E-7A983D4330F5}"/>
              </c:ext>
            </c:extLst>
          </c:dPt>
          <c:dLbls>
            <c:dLbl>
              <c:idx val="0"/>
              <c:layout>
                <c:manualLayout>
                  <c:x val="-7.4201916054474376E-2"/>
                  <c:y val="-0.2009291133771265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258151823688619"/>
                      <c:h val="0.111158968112581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303C-470A-AF0E-7A983D4330F5}"/>
                </c:ext>
              </c:extLst>
            </c:dLbl>
            <c:dLbl>
              <c:idx val="1"/>
              <c:layout>
                <c:manualLayout>
                  <c:x val="-2.8371353696782231E-2"/>
                  <c:y val="4.1361476507007028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276066503415388"/>
                      <c:h val="0.104265388694746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03C-470A-AF0E-7A983D4330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Relacionadas con su puesto</c:v>
                </c:pt>
                <c:pt idx="1">
                  <c:v>Con Proveedores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0.95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3C-470A-AF0E-7A983D433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4CD-4230-A9B9-34E97B98333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4CD-4230-A9B9-34E97B98333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4CD-4230-A9B9-34E97B98333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4CD-4230-A9B9-34E97B98333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Revisiones técnicas RFQ</c:v>
                </c:pt>
                <c:pt idx="1">
                  <c:v>Validación en piso</c:v>
                </c:pt>
                <c:pt idx="2">
                  <c:v>Participación en selección</c:v>
                </c:pt>
                <c:pt idx="3">
                  <c:v>Negociación/Cotización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0.12</c:v>
                </c:pt>
                <c:pt idx="3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4CD-4230-A9B9-34E97B9833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4688936397253363"/>
          <c:y val="0.31012369071769014"/>
          <c:w val="0.43903301921650117"/>
          <c:h val="0.593578930986749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CCC5-F399-EF6A-8259-645EF31E1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ABF33-D527-6DCD-8090-2D4E7CB12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1CF21-E2E9-2D8E-D0C1-C33D6598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79A68-22A7-F22D-8E86-D788AD7B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2D56-179C-461D-4ADA-BF8BE564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9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E243-0821-A579-3947-23486F4E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E9BB2-A00C-4A68-A897-3AAAD09BE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5CF1-6A99-0DB4-D01B-F55E3E905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FA09A-7C7C-919F-7776-05051732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F0F90-68CF-DCC2-0355-02BAE81B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0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BD90-60FA-5594-300D-0141F4A8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49C0B-6FDE-1576-15E1-C995C613D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BDA97-FD04-8902-5DC2-32E6337C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1E863-D13D-BBF6-7EED-BFDF30D2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3FF06-B33B-8860-C73C-684CB1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931B-15F1-17B7-4B1B-55A9B52F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D3F1B-B764-B9DE-446B-F5842D96C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F461C-E194-A46D-B250-19E9AB83A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D740-21A2-16D7-63DB-820C3832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F66C-22EF-0D06-4F04-7434D84E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35EBF-55D7-D226-664F-B012AEEF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7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49EE-D37F-CA49-FD59-6779A67C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84A51-9E18-BDD0-B1E4-27F55CE2D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22DF4-936F-4AAB-90F1-C7BE68C73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C63E7-39F2-C015-62C6-BE7EC2BEF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8AE01-AB40-A0ED-FBE6-9ADA2F231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01A3B-0555-ACBE-DFA1-9AF33A5C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AA9D04-F02B-125A-6FEE-BB9BA2530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B2EB0-130F-2574-5CC1-FCD20096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7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CC52-9E10-EF1E-B813-0025100A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956E7-58CD-2D2A-1D70-0155C699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64261-411D-8AA7-5F78-507377EF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5D293-2D0B-6AB5-D5CE-04B08603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5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22107-E294-D3CB-2A64-6272AF19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4AE8D-B347-B904-5F9B-CDE7F85F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180E4-45DF-D9EF-7BFB-58C6FA5A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9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4A9D1-A3DB-6991-ABD9-08FFF2C8C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F252-FD20-FDA0-F611-6CEFC397E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D1972-315D-1148-5E7C-4AB17B329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7E30-DC64-C762-65C6-D9EEB2CB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6B946-0F43-5A0E-6779-13F71072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4F16D-727F-A029-D5FC-6316483D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4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1FA33-57C5-505B-5809-31755DF4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87F887-5052-7E76-F5CD-E1DA4653D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B6C2-6CA7-C8E2-22B4-1E6612B90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A6057-7B8E-1BA3-9521-13A9B5FE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427BC-D645-0885-E8D4-550068DF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9C68F-791C-34B5-36EB-7AFDFC37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820B-875D-B312-0A66-110AE8EE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B8D03-238B-139D-1A4B-26061837C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D62F-5F7C-BC44-A5B9-C5FE3F44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50743-98D8-2BF9-48DC-54A42FEFF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850C2-D7AE-830F-3525-823E3FB6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7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F2D80-8E7E-76F6-A345-8698402D7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2825D-EB87-86B0-AB3E-0FC4973AF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44B4D-48D8-0A9D-CD02-71D17A4D4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A2C2E-D3CC-EB66-B2E6-4AE60740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BE9C-F89E-3C4D-F6FE-A309038C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61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65D6-9602-9224-C3EE-808018F17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1B5BF-3299-2454-B550-E8664BEDB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7E807-264D-E468-6683-2299FEF4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F0EBA-FECC-2BC9-7156-04EE2D08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0FD9-0974-0E90-AB82-4B776FA5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43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B01D-B159-10DB-CEAA-E3A51DB6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6945-1AF3-BD4F-763E-76A0B528A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85C9B-4F09-FDD3-91B8-962D8D65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D865B-680A-1A20-1A4D-D63967A0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D42E8-F17B-7DA6-7835-F9622E46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1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7233-E8E9-6CE9-5BFA-48B41BD9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6BD7-821A-3067-3A83-EEDA4670F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50827-8894-72C6-CFF8-8AB2C58B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D743D-4EDC-636A-8349-4FACC0B8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3E3A5-B90F-CBDB-2788-531D565A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3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15CF-38BD-38D1-3ED8-F2F9DD41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13D11-D5EA-22A8-76CC-95F669F3D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E732E-3A1F-F7F8-A756-3A7A36041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03AF3-70DE-97C2-670A-888F4E27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C80EC-95EB-F992-6B14-F5A4F237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7E1F5-532B-05B9-69F1-9BDC488C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84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0E10-40EC-6392-D611-4EF249CF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E9FDF-0B94-D2DD-A310-3D7137B2A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88987-E8FE-DDCE-FAA4-78C03FEB0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BCC7C-ED50-F38B-ED5F-572549ACD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48834-DDBF-6515-B276-3BE566785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BBFE72-547F-9EAB-2873-08030C5C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ACB36C-17BA-32D2-369B-36372BEC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DB9A2-54FE-12B7-42C6-48597E0D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63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4BC7-E164-9213-A980-BA087B4A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ABEB1-6003-4037-2760-3723E0C1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E6481-74BF-F721-2508-96795AC8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69090-8BA0-45F5-28CA-B636BDFD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96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69F7-9C94-C333-8417-4A4051B3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EFBFA-B8DA-54B8-4026-5E4903E8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DC7D-F272-CF31-E2B0-5C074985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098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D457-9C50-145D-9942-C91EA667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A3C67-6062-E516-032E-5157DDDB0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54E5E-FF76-6AB9-8A92-6C678F4E3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20767-7CF7-4281-3B48-C682D967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3E6D5-5C2C-37F6-07C7-1CCE1EC0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7A61D-5DF1-7EE7-AB29-91C7E026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01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3AF4-C2BD-63E8-3850-9DB2BBDE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85920-7154-460E-1033-0E5AD8F15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49FE5-3ACC-9A80-B529-B986F22B7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9A06B-6B02-D2F6-8E8A-53E461B7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8E8FB-03B9-7308-4062-F114C957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7BCCC-2791-88F1-1EBC-2CD77417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01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9B8C-7AB6-FE6A-6A0C-18F2DEB9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10B1B-010E-5DBB-1769-A5D50C4C0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095B-9B8D-DB53-C1C4-8A2A3090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10D7-A2BE-0C14-89D4-3391D6B8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F0128-2D8F-19A3-309D-8F40C803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31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14443A-DE1E-AFF2-F30D-19F809586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A5D4F-E30A-CAFE-FEC5-CEDCFE7F6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CC2A-75EA-7F9D-C8DE-099C46B1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E6424-6A5E-508A-282C-677068C5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B62B2-1405-9D80-DA0E-2C36C093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833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FB6A-1F88-9B80-5E50-1BDC91757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34B82-63C8-E11B-EBAC-6A38434EB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2ED01-4EF1-4634-1E04-4074FF9C4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8C5A8-B7C4-C27B-7E63-1C1F4B80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8E55C-CEE7-5818-3BA5-0C197A38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349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16A0-8CDF-0C0E-56E2-A1C036D3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2174D-322A-87F8-B600-B33C8C1EA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5DD2-C40A-A628-142B-5F07BC06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91A23-9BF4-A25F-9D68-2CBBA4A77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1A628-E005-AAE0-849F-6950EFB8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096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91A1-7FE9-B13F-2266-29DE2B5FE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45D8-5F60-3E24-6668-716055E9E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29F47-5C50-BDEA-17EC-702B0063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9670F-2C38-8232-83A9-DE61A12B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BBD8-91F5-A1C6-60E4-8F4EC962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530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5E46-CF48-CDAC-B9D0-380838D2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1121-92C5-D0D4-4D80-A88B0896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F208B-4FDB-1AFD-D12B-0E542C604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890E5-11A3-40B7-7D2F-0698E000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0E3DB-3E36-3F0D-3C00-248F4F99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72F57-F3F4-FFDD-F746-40BD7539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91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DA95-9333-73BF-DDB5-5AF2D256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CD540-2B19-28DB-5B38-3A8A59B03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1BA4B-40A2-AA43-DE00-3BF9897EE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39E94-1973-28BC-E9C9-DBAA99EC2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E3F57-19B8-22D6-C1C2-20263389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5987E-8CAD-4344-C583-9D37337A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C9DFF-1015-2CBF-32B8-E757BC11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9BD72-4923-9CB9-03BC-766B2066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00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B376-3A0E-DCD3-1819-133F07DF0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88529-D498-2F08-3645-5A85FE83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65D80-47A8-8E56-49A3-92E94E7A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C756E-1756-72A6-1BD5-B6D91E12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36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821EE-A9CF-5826-4750-FB4A3D2A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77AC7-F27E-5B29-8F72-A138A93B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224D8-5A79-9BB4-DB2F-5288CD23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01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8CE3-7DC7-8B03-755A-36C5139A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EFFAE-2A41-1F60-797D-376373D7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C9665-B0C0-98EA-3FCE-67B096CBD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17806-0E9A-0A08-DD29-632AFB3F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99739-591C-E984-BA9D-262BC321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438AA-788E-B04F-FDEC-AC8740F0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463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D9E3-EC77-916B-16DB-84D10008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EC97D6-2B50-3F09-F9EF-2D5D3829E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50693-2DD3-E5AB-4727-64B7CE4E0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AA5E7-E4C6-1C52-FD37-FEF14712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18AED-EAED-51BC-02D3-AAF8E54E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25B30-03EE-CA55-3D86-0E6E2A18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148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F24E-AD77-62AE-6CBD-8F4AF54B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F3AC1-6617-80C8-F347-D37017E34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47E15-979B-B94F-EF54-45CA6C09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0A51-5492-8545-10DC-F8D7F2B9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FCAA-F317-D41F-BEB3-821842C2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309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0383C-9DF5-273B-C481-B7AD4E20C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3D4A5-97F1-2280-193E-2795C6F1B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87777-913B-6961-F90B-AC763D1F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92692-033B-1EBA-A1D7-F6F843AB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60B0F-B201-4746-F24A-927CD9FE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41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DAAB-F9A1-765B-47AB-1948E8C63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F3952-D130-4272-B12D-2E539384E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18CBD-00EA-573D-62F4-0CFE4F85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DE65-E4DA-03E7-DA69-A4B4DC63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1253D-B0DB-AC32-DC28-5AB2C47C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562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8856-537D-C78A-A5C0-72D1AB84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C5C12-F41C-7C9B-EED4-B300912A9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C54B9-19E7-37D8-1805-2141B2DA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19E19-50C5-0881-2951-BB062286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CC1B9-E2BE-8F92-1262-2BB3ED1E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531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C92B-6FFD-A56A-1779-7D20E207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C4935-860A-9A6F-1AA7-B30BF5BB4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D73C6-F25A-EB19-E0F6-89BB74FB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DCB68-5186-C5A8-76EB-5E7601B4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9BCB1-F26E-C648-09FC-6AC5FD76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137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6500-FC3B-E93D-80EF-71AD124E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D6A1E-029C-D215-3813-05EBCE072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37B0-D115-1240-C69F-7C84AA0CE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39E8F-0D01-6025-ECD3-5C33299D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4277B-0580-BF8F-E05B-7C0D9349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66FC8-BB42-CFB2-FDF3-E888A5A83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75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E550-57EC-81D8-40E2-1DF7E4BF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978E1-5C8B-4496-1EEC-AE835AEAF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5D7F6-59D7-A3BC-236D-CE9877BDF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474FE-710E-E93D-A4D0-2AC421C46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633AC-263C-3B90-D102-D45AE2327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B5B79-8B00-33AF-30FF-09AA2079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AD4D0-67FB-EE96-99D8-9AD0AC865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93E32-A2B4-B3D4-B1F5-57F37813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858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EE9B-3CE7-06A5-6789-0AEB0609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A09E2-2F94-BAF4-AC64-BDB3D346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4581A-D338-006F-9960-7B811042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FAA7E6-6EF5-513A-8A96-EE46A722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877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DFD7A-9C56-167E-8CC9-321006F0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329C15-5B57-16E7-950E-4315467B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CCDD1-2103-3A66-2481-A7A73D85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884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C97B-9DE4-B2AE-7088-72E95623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017EE-4B27-EC2A-BEA0-89D210562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7520F-0081-2C38-378F-A58E9D857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64CCB-8D43-EBE9-74CA-1D5B2631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B811D-D998-6BE7-BE24-B40BE276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52161-4B07-1AB3-BD4B-FC17ACBC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670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9A44-0C23-E93C-6109-BFAA776E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B5E698-0DE4-9B39-CD30-F9356C522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D9267-CCFF-F0A4-1C25-0A59A5699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21130-AFFC-DE24-D5C2-7EE40961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9C569-3C84-EFB3-4D46-7B599C5D6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6F942-F2FB-5DD4-1CBD-B9B6CBEC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515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6DFD-7E57-2CEC-6584-703CA1CC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F11E2-3F6F-09E4-B2C2-E345D73AB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7302F-6239-DB0C-D6CC-44686FB3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4F97F-FFBC-A770-37F8-78CA6024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91E5A-1C24-6D6C-8E74-9774375C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268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F75007-99FD-3B8D-8750-1290D5BCB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D8D7B-0E98-679F-6D29-6CC0EC456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149FD-508A-982B-6C8E-D6F7EBCE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F9802-ED84-AB97-4F8E-C93685FF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AF61E-7DD9-1313-24E9-BD9FCD2F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8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87777-B75C-3CE2-1264-2C1C1B948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8A76D-D034-DD24-C184-07ABDE643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08C7D-D64A-39CC-FBE0-FA2097289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D138D-3DE6-40EE-8C29-3AF2FFDB4EE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5DCC-D905-E1CC-C590-24D40E1FA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0920-1C07-8957-FAC7-373069E7F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7F907-63F3-4FF3-A639-84E7DABB9C0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93DBF652-3999-EFD3-DDD0-EE32459027A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735CB-0D71-F6B2-E219-4256F32D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D621F-B2B0-7C61-E074-6020FC9E6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7DD0B-155F-D52D-7451-7FF2466D8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B1D15-911A-43EF-AF41-AC072FF8D79C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C83A7-7B27-A575-4FCD-30B38BD33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3126-F8A0-FEF8-4A94-3EC635C51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EE22D-0B96-4F30-8736-26DE894046D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Chart, funnel chart&#10;&#10;Description automatically generated">
            <a:extLst>
              <a:ext uri="{FF2B5EF4-FFF2-40B4-BE49-F238E27FC236}">
                <a16:creationId xmlns:a16="http://schemas.microsoft.com/office/drawing/2014/main" id="{EE4FD52B-2551-68A1-96D4-C852DCBB2F7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9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599C2-EA65-AD39-FBA9-E4DF12162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99EC3-EDFC-768A-8A7B-4D6B83401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402A0-A3D1-21F4-E6DA-211A0B703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E045C-C075-4ED7-AC59-6B46E4ED6609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05F1-A178-6815-361E-DF86A73ED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176A0-68C0-478F-5B5B-D2C3DD53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741B4-A222-4BF2-ADBF-D0BDBD26A62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B3B6E3FB-77FF-5E66-88AB-3FD51BB44E2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7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9B0A3-1BC5-55F3-A2E3-73FBC40E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3AF39-ABC8-DCD2-E14E-E4A5C6BFF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45133-6C1F-8AA6-57AE-142B9E8B8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2F726-D326-4F66-9B3F-3EBD7E067D01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794DA-529E-D71D-ADC7-8D6D3961B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851CD-2DF2-D829-FC48-726E03EDD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CF3F4-6B55-4C71-A5D7-86ED358050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EE2BCF47-ACA1-6DE9-EAF7-98EABEF2CD3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2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laboration.mabempresa.com/irj/portal" TargetMode="Externa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am04.safelinks.protection.outlook.com/?url=https%3A%2F%2Fpoliticas.mabe.cc%2FProduccion%2FPublicas%2FCadena%2520de%2520Valor%2FCOMPRAS%2520INDIRECTAS.pdf&amp;data=05%7C01%7C%7C85526a7b29ec417cf54a08db18dab9e0%7C2296be4368074f748426ee2d33e3b0f0%7C0%7C0%7C638131099923448165%7CUnknown%7CTWFpbGZsb3d8eyJWIjoiMC4wLjAwMDAiLCJQIjoiV2luMzIiLCJBTiI6Ik1haWwiLCJXVCI6Mn0%3D%7C3000%7C%7C%7C&amp;sdata=yhz84Av%2FPCaH8PDE8kF9iaJF24JIrNJelXVhKmkUg80%3D&amp;reserved=0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0AEA50-ADEF-FBA6-CBE3-66E4CBB8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BB8CD6-174B-ABA7-8559-FD807C01BFE2}"/>
              </a:ext>
            </a:extLst>
          </p:cNvPr>
          <p:cNvSpPr txBox="1"/>
          <p:nvPr/>
        </p:nvSpPr>
        <p:spPr>
          <a:xfrm>
            <a:off x="3338004" y="3879544"/>
            <a:ext cx="2024109" cy="369332"/>
          </a:xfrm>
          <a:prstGeom prst="rect">
            <a:avLst/>
          </a:prstGeom>
          <a:noFill/>
          <a:effectLst>
            <a:softEdge rad="317500"/>
          </a:effectLst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Actualización 2024</a:t>
            </a:r>
            <a:endParaRPr lang="es-E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36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4D7338-B212-1567-1A39-64388E58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4" y="661183"/>
            <a:ext cx="9144000" cy="6033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E90F011-B349-5503-FC9D-F045A032414B}"/>
              </a:ext>
            </a:extLst>
          </p:cNvPr>
          <p:cNvSpPr txBox="1">
            <a:spLocks/>
          </p:cNvSpPr>
          <p:nvPr/>
        </p:nvSpPr>
        <p:spPr>
          <a:xfrm>
            <a:off x="0" y="164917"/>
            <a:ext cx="4056993" cy="4962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3600" b="1" dirty="0" err="1">
                <a:solidFill>
                  <a:srgbClr val="108CB1"/>
                </a:solidFill>
                <a:latin typeface="+mn-lt"/>
              </a:rPr>
              <a:t>Indirect</a:t>
            </a:r>
            <a:r>
              <a:rPr lang="es-MX" sz="3600" b="1" dirty="0">
                <a:solidFill>
                  <a:srgbClr val="108CB1"/>
                </a:solidFill>
                <a:latin typeface="+mn-lt"/>
              </a:rPr>
              <a:t> </a:t>
            </a:r>
            <a:r>
              <a:rPr lang="es-MX" sz="3600" b="1" dirty="0" err="1">
                <a:solidFill>
                  <a:srgbClr val="108CB1"/>
                </a:solidFill>
                <a:latin typeface="+mn-lt"/>
              </a:rPr>
              <a:t>Structure</a:t>
            </a:r>
            <a:endParaRPr lang="es-MX" sz="3600" b="1" dirty="0">
              <a:solidFill>
                <a:srgbClr val="108CB1"/>
              </a:solidFill>
              <a:latin typeface="+mn-lt"/>
            </a:endParaRP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3B36649-48DC-4EFB-D19E-7CED0EE1C2B0}"/>
              </a:ext>
            </a:extLst>
          </p:cNvPr>
          <p:cNvSpPr txBox="1">
            <a:spLocks/>
          </p:cNvSpPr>
          <p:nvPr/>
        </p:nvSpPr>
        <p:spPr>
          <a:xfrm>
            <a:off x="9409814" y="1709281"/>
            <a:ext cx="2856613" cy="448753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Corp Indirect Mats</a:t>
            </a:r>
            <a:endParaRPr lang="es-MX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Negotiators</a:t>
            </a:r>
            <a:endParaRPr lang="es-MX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s-MX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Palmas</a:t>
            </a:r>
          </a:p>
          <a:p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Procurement</a:t>
            </a:r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Manager</a:t>
            </a:r>
          </a:p>
          <a:p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Buyers</a:t>
            </a:r>
            <a:endParaRPr lang="es-MX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Analyst</a:t>
            </a:r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es-MX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s-MX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Industrial Area</a:t>
            </a:r>
          </a:p>
          <a:p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10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Buyer</a:t>
            </a:r>
            <a:endParaRPr lang="es-MX" sz="260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Reporting</a:t>
            </a:r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to</a:t>
            </a:r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materials</a:t>
            </a:r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managers (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each</a:t>
            </a:r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es-MX" sz="2600" dirty="0" err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mfg</a:t>
            </a:r>
            <a:r>
              <a:rPr lang="es-MX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site)</a:t>
            </a:r>
          </a:p>
          <a:p>
            <a:endParaRPr lang="es-MX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s-MX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66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 txBox="1">
            <a:spLocks/>
          </p:cNvSpPr>
          <p:nvPr/>
        </p:nvSpPr>
        <p:spPr>
          <a:xfrm>
            <a:off x="120483" y="202980"/>
            <a:ext cx="4146717" cy="4962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4000" b="1" dirty="0" err="1">
                <a:solidFill>
                  <a:srgbClr val="108CB1"/>
                </a:solidFill>
                <a:latin typeface="+mn-lt"/>
              </a:rPr>
              <a:t>Indirect</a:t>
            </a:r>
            <a:r>
              <a:rPr lang="es-MX" sz="4000" b="1" dirty="0">
                <a:solidFill>
                  <a:srgbClr val="108CB1"/>
                </a:solidFill>
                <a:latin typeface="+mn-lt"/>
              </a:rPr>
              <a:t> </a:t>
            </a:r>
            <a:r>
              <a:rPr lang="es-MX" sz="4000" b="1" dirty="0" err="1">
                <a:solidFill>
                  <a:srgbClr val="108CB1"/>
                </a:solidFill>
                <a:latin typeface="+mn-lt"/>
              </a:rPr>
              <a:t>Materials</a:t>
            </a:r>
            <a:endParaRPr lang="es-MX" sz="4000" b="1" dirty="0">
              <a:solidFill>
                <a:srgbClr val="108CB1"/>
              </a:solidFill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840578" y="1882966"/>
            <a:ext cx="1453539" cy="354086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Energy &amp; </a:t>
            </a:r>
            <a:r>
              <a:rPr lang="es-MX" dirty="0" err="1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Utilities</a:t>
            </a:r>
            <a:endParaRPr lang="es-MX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algn="ctr"/>
            <a:endParaRPr lang="es-MX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Electricity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Natural Gas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Material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Lift Trucks Service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n-US" sz="14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Production water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endParaRPr lang="es-MX" sz="14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endParaRPr lang="es-MX" sz="14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endParaRPr lang="es-MX" sz="14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endParaRPr lang="es-MX" sz="14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r>
              <a:rPr lang="es-MX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Luis Torres</a:t>
            </a:r>
            <a:endParaRPr lang="en-US" b="1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33316" y="1882966"/>
            <a:ext cx="1453539" cy="354086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dirty="0" err="1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Services</a:t>
            </a:r>
            <a:endParaRPr lang="es-MX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algn="ctr"/>
            <a:endParaRPr lang="es-MX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2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Personal</a:t>
            </a:r>
            <a:r>
              <a:rPr lang="fr-FR" sz="12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transportation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2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Surveillance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2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EHS Equipment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2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Personal</a:t>
            </a:r>
            <a:r>
              <a:rPr lang="fr-FR" sz="12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services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2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Scrap</a:t>
            </a:r>
            <a:r>
              <a:rPr lang="fr-FR" sz="12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</a:t>
            </a:r>
            <a:r>
              <a:rPr lang="fr-FR" sz="12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recolection</a:t>
            </a:r>
            <a:endParaRPr lang="fr-FR" sz="12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2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Calibration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2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etc</a:t>
            </a:r>
            <a:endParaRPr lang="fr-FR" sz="12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endParaRPr lang="es-MX" b="1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endParaRPr lang="es-MX" b="1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r>
              <a:rPr lang="es-MX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Carlos Martínez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endParaRPr lang="en-US" sz="14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 algn="ctr"/>
            <a:endParaRPr lang="en-US" sz="14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0133" y="1876747"/>
            <a:ext cx="1453539" cy="354086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MRO</a:t>
            </a:r>
          </a:p>
          <a:p>
            <a:pPr algn="ctr"/>
            <a:endParaRPr lang="es-MX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Production consumables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Electric material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Spare parts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Hand Tools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Hardware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Store cleaning supplies 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Lubricants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n-US" sz="105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Chemicals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5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Dunnage</a:t>
            </a:r>
            <a:r>
              <a:rPr lang="es-MX" sz="105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, </a:t>
            </a:r>
            <a:r>
              <a:rPr lang="es-MX" sz="105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Packging</a:t>
            </a:r>
            <a:endParaRPr lang="es-MX" sz="105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endParaRPr lang="es-MX" sz="105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endParaRPr lang="es-MX" sz="105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endParaRPr lang="es-MX" sz="105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/>
            <a:r>
              <a:rPr lang="es-MX" b="1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Irvin Gutiérrez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endParaRPr lang="en-US" sz="14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840578" y="5605916"/>
            <a:ext cx="9405386" cy="5528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Indirect</a:t>
            </a:r>
            <a:r>
              <a:rPr lang="es-MX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 </a:t>
            </a:r>
            <a:r>
              <a:rPr lang="es-MX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Policy</a:t>
            </a:r>
            <a:endParaRPr lang="es-MX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35" name="Isosceles Triangle 34"/>
          <p:cNvSpPr/>
          <p:nvPr/>
        </p:nvSpPr>
        <p:spPr>
          <a:xfrm>
            <a:off x="1840577" y="699247"/>
            <a:ext cx="9479063" cy="1026243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IMCTO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87689" y="1876747"/>
            <a:ext cx="1453539" cy="354086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1300" dirty="0" err="1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Infraestructure</a:t>
            </a:r>
            <a:endParaRPr lang="es-MX" sz="1200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algn="ctr"/>
            <a:endParaRPr lang="es-MX" sz="2000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1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Tooling</a:t>
            </a:r>
            <a:endParaRPr lang="es-MX" sz="11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1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Machinery</a:t>
            </a:r>
            <a:endParaRPr lang="es-MX" sz="11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1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Facilitie</a:t>
            </a:r>
            <a:r>
              <a:rPr lang="es-MX" sz="11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</a:t>
            </a:r>
            <a:r>
              <a:rPr lang="es-MX" sz="11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repair</a:t>
            </a:r>
            <a:r>
              <a:rPr lang="es-MX" sz="110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</a:t>
            </a:r>
            <a:r>
              <a:rPr lang="es-MX" sz="11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services</a:t>
            </a:r>
            <a:endParaRPr lang="es-MX" sz="11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1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Contrators</a:t>
            </a:r>
            <a:endParaRPr lang="es-MX" sz="11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100" dirty="0" err="1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Autonomation</a:t>
            </a:r>
            <a:endParaRPr lang="es-MX" sz="1100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1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Assets</a:t>
            </a:r>
            <a:endParaRPr lang="es-MX" sz="11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1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Redes Incendio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1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Capex</a:t>
            </a:r>
            <a:endParaRPr lang="es-MX" sz="11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/>
            <a:endParaRPr lang="es-MX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/>
            <a:endParaRPr lang="es-MX" sz="24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/>
            <a:endParaRPr lang="es-MX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/>
            <a:r>
              <a:rPr lang="es-MX" b="1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Enrique Suárez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endParaRPr lang="es-MX" sz="14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endParaRPr lang="es-MX" sz="14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120484" y="1876746"/>
            <a:ext cx="1580896" cy="66474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 err="1">
                <a:solidFill>
                  <a:schemeClr val="accent1">
                    <a:lumMod val="75000"/>
                  </a:schemeClr>
                </a:solidFill>
              </a:rPr>
              <a:t>Categories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23402" y="4861429"/>
            <a:ext cx="1580896" cy="66474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 err="1">
                <a:solidFill>
                  <a:schemeClr val="accent1">
                    <a:lumMod val="75000"/>
                  </a:schemeClr>
                </a:solidFill>
              </a:rPr>
              <a:t>Negociator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7AB6-48DE-4B9F-897F-46E491FA1A02}"/>
              </a:ext>
            </a:extLst>
          </p:cNvPr>
          <p:cNvSpPr/>
          <p:nvPr/>
        </p:nvSpPr>
        <p:spPr>
          <a:xfrm>
            <a:off x="6600872" y="1876746"/>
            <a:ext cx="1453539" cy="354086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OEM</a:t>
            </a:r>
          </a:p>
          <a:p>
            <a:pPr algn="ctr"/>
            <a:endParaRPr lang="es-MX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OEM’s</a:t>
            </a:r>
            <a:r>
              <a:rPr lang="es-MX" sz="10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Refacciones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>
                <a:solidFill>
                  <a:schemeClr val="bg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Hidráulico &amp; Neumático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Moldes y Troqueles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Refacciones para-Moldes y Troqueles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Punzones, Matrices, Perfiles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 err="1">
                <a:solidFill>
                  <a:schemeClr val="bg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Htas</a:t>
            </a:r>
            <a:r>
              <a:rPr lang="es-MX" sz="1000" dirty="0">
                <a:solidFill>
                  <a:schemeClr val="bg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. Corte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Maquinados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0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Calibración y Medición</a:t>
            </a:r>
          </a:p>
          <a:p>
            <a:endParaRPr lang="es-MX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/>
            <a:r>
              <a:rPr lang="es-MX" b="1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Hugo Montes O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endParaRPr lang="en-US" sz="14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646321-20EF-BB50-F801-5E70EDDA7A19}"/>
              </a:ext>
            </a:extLst>
          </p:cNvPr>
          <p:cNvSpPr/>
          <p:nvPr/>
        </p:nvSpPr>
        <p:spPr>
          <a:xfrm>
            <a:off x="9792425" y="1876746"/>
            <a:ext cx="1453539" cy="3540864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1600" dirty="0" err="1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Commercial</a:t>
            </a:r>
            <a:endParaRPr lang="es-MX" sz="1600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algn="ctr"/>
            <a:endParaRPr lang="es-MX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CDRs</a:t>
            </a:r>
            <a:endParaRPr lang="es-MX" sz="12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Stationery</a:t>
            </a:r>
            <a:endParaRPr lang="es-MX" sz="12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Furniture</a:t>
            </a:r>
            <a:r>
              <a:rPr lang="es-MX" sz="12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and office </a:t>
            </a: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equipment</a:t>
            </a:r>
            <a:endParaRPr lang="es-MX" sz="12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Events</a:t>
            </a:r>
            <a:endParaRPr lang="es-MX" sz="12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Marketing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Indirect</a:t>
            </a:r>
            <a:r>
              <a:rPr lang="es-MX" sz="12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</a:t>
            </a: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commercial</a:t>
            </a:r>
            <a:r>
              <a:rPr lang="es-MX" sz="12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</a:t>
            </a:r>
            <a:r>
              <a:rPr lang="es-MX" sz="1200" dirty="0" err="1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materials</a:t>
            </a:r>
            <a:endParaRPr lang="es-MX" sz="12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Sales</a:t>
            </a:r>
          </a:p>
          <a:p>
            <a:pPr marL="174625" lvl="0" indent="-174625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Service Post Sale</a:t>
            </a:r>
          </a:p>
          <a:p>
            <a:pPr lvl="0"/>
            <a:endParaRPr lang="es-MX" sz="800" dirty="0">
              <a:solidFill>
                <a:prstClr val="white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  <a:p>
            <a:pPr lvl="0"/>
            <a:r>
              <a:rPr lang="es-MX" sz="1600" b="1" dirty="0">
                <a:solidFill>
                  <a:prstClr val="white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Tannia Villalpando</a:t>
            </a:r>
          </a:p>
          <a:p>
            <a:pPr algn="ctr"/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  <a:cs typeface="Segoe UI Black" panose="020B0A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00D8E-EF12-0507-41D9-1001DEBE7363}"/>
              </a:ext>
            </a:extLst>
          </p:cNvPr>
          <p:cNvSpPr txBox="1"/>
          <p:nvPr/>
        </p:nvSpPr>
        <p:spPr>
          <a:xfrm>
            <a:off x="0" y="6273225"/>
            <a:ext cx="8054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i="1" dirty="0"/>
              <a:t>IT, </a:t>
            </a:r>
            <a:r>
              <a:rPr lang="es-MX" sz="1600" b="1" i="1" dirty="0" err="1"/>
              <a:t>Shipments</a:t>
            </a:r>
            <a:r>
              <a:rPr lang="es-MX" sz="1600" b="1" i="1" dirty="0"/>
              <a:t>, </a:t>
            </a:r>
            <a:r>
              <a:rPr lang="es-MX" sz="1600" b="1" i="1" dirty="0" err="1"/>
              <a:t>Corp</a:t>
            </a:r>
            <a:r>
              <a:rPr lang="es-MX" sz="1600" b="1" i="1" dirty="0"/>
              <a:t> Real </a:t>
            </a:r>
            <a:r>
              <a:rPr lang="es-MX" sz="1600" b="1" i="1" dirty="0" err="1"/>
              <a:t>States</a:t>
            </a:r>
            <a:r>
              <a:rPr lang="es-MX" sz="1600" b="1" i="1" dirty="0"/>
              <a:t>, </a:t>
            </a:r>
            <a:r>
              <a:rPr lang="es-MX" sz="1600" b="1" i="1" dirty="0" err="1"/>
              <a:t>Travel</a:t>
            </a:r>
            <a:r>
              <a:rPr lang="es-MX" sz="1600" b="1" i="1" dirty="0"/>
              <a:t>, </a:t>
            </a:r>
            <a:r>
              <a:rPr lang="es-MX" sz="1600" b="1" i="1" dirty="0" err="1"/>
              <a:t>Some</a:t>
            </a:r>
            <a:r>
              <a:rPr lang="es-MX" sz="1600" b="1" i="1" dirty="0"/>
              <a:t> Professional </a:t>
            </a:r>
            <a:r>
              <a:rPr lang="es-MX" sz="1600" b="1" i="1" dirty="0" err="1"/>
              <a:t>Services</a:t>
            </a:r>
            <a:endParaRPr lang="es-MX" sz="16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/>
              <a:t>Manage</a:t>
            </a:r>
            <a:r>
              <a:rPr lang="es-MX" sz="1600" dirty="0"/>
              <a:t> </a:t>
            </a:r>
            <a:r>
              <a:rPr lang="es-MX" sz="1600" dirty="0" err="1"/>
              <a:t>for</a:t>
            </a:r>
            <a:r>
              <a:rPr lang="es-MX" sz="1600" dirty="0"/>
              <a:t> </a:t>
            </a:r>
            <a:r>
              <a:rPr lang="es-MX" sz="1600" dirty="0" err="1"/>
              <a:t>each</a:t>
            </a:r>
            <a:r>
              <a:rPr lang="es-MX" sz="1600" dirty="0"/>
              <a:t> área (IT, HR)</a:t>
            </a:r>
          </a:p>
        </p:txBody>
      </p:sp>
    </p:spTree>
    <p:extLst>
      <p:ext uri="{BB962C8B-B14F-4D97-AF65-F5344CB8AC3E}">
        <p14:creationId xmlns:p14="http://schemas.microsoft.com/office/powerpoint/2010/main" val="291399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52300-BDE8-E7D1-37AF-50F29D44BB1B}"/>
              </a:ext>
            </a:extLst>
          </p:cNvPr>
          <p:cNvSpPr txBox="1"/>
          <p:nvPr/>
        </p:nvSpPr>
        <p:spPr>
          <a:xfrm>
            <a:off x="211965" y="2049282"/>
            <a:ext cx="11554408" cy="452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MX" sz="2000" b="1" dirty="0">
                <a:solidFill>
                  <a:srgbClr val="008BB0"/>
                </a:solidFill>
              </a:rPr>
              <a:t>Toda compra debe de estar sustentada por una OC </a:t>
            </a:r>
            <a:r>
              <a:rPr lang="es-MX" sz="2000" dirty="0">
                <a:solidFill>
                  <a:srgbClr val="008BB0"/>
                </a:solidFill>
              </a:rPr>
              <a:t>en sistema y con el proveedor de acuerdo con su Commodity.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s-MX" sz="2000" dirty="0">
              <a:solidFill>
                <a:srgbClr val="008BB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MX" sz="2000" b="1" dirty="0">
                <a:solidFill>
                  <a:srgbClr val="008BB0"/>
                </a:solidFill>
              </a:rPr>
              <a:t>Toda compra se tendrá que realizar con proveedores dados de alta </a:t>
            </a:r>
            <a:r>
              <a:rPr lang="es-MX" sz="2000" dirty="0">
                <a:solidFill>
                  <a:srgbClr val="008BB0"/>
                </a:solidFill>
              </a:rPr>
              <a:t>y con addenda validada, previamente autorizados por el área compras.</a:t>
            </a: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s-MX" sz="2000" dirty="0">
              <a:solidFill>
                <a:srgbClr val="008BB0"/>
              </a:solidFill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MX" sz="2000" dirty="0">
                <a:solidFill>
                  <a:srgbClr val="008BB0"/>
                </a:solidFill>
              </a:rPr>
              <a:t>Cualquier OC debe estar </a:t>
            </a:r>
            <a:r>
              <a:rPr lang="es-MX" sz="2000" b="1" dirty="0">
                <a:solidFill>
                  <a:srgbClr val="008BB0"/>
                </a:solidFill>
              </a:rPr>
              <a:t>respaldada por cotización</a:t>
            </a:r>
            <a:r>
              <a:rPr lang="es-MX" sz="2000" dirty="0">
                <a:solidFill>
                  <a:srgbClr val="008BB0"/>
                </a:solidFill>
              </a:rPr>
              <a:t>, contrato, acuerdo comercial o justificación según aplique, formal, por escrito (formatos no editables) y adjunto como respaldo en SRM (SAP).</a:t>
            </a: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s-MX" sz="2000" dirty="0">
              <a:solidFill>
                <a:srgbClr val="008BB0"/>
              </a:solidFill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MX" sz="2000" b="1" dirty="0">
                <a:solidFill>
                  <a:srgbClr val="008BB0"/>
                </a:solidFill>
              </a:rPr>
              <a:t>No se entregará</a:t>
            </a:r>
            <a:r>
              <a:rPr lang="es-MX" sz="2000" dirty="0">
                <a:solidFill>
                  <a:srgbClr val="008BB0"/>
                </a:solidFill>
              </a:rPr>
              <a:t> por parte del proveedor ningún producto o servicio si no existe de por medio una </a:t>
            </a:r>
            <a:r>
              <a:rPr lang="es-MX" sz="2000" b="1" dirty="0">
                <a:solidFill>
                  <a:srgbClr val="008BB0"/>
                </a:solidFill>
              </a:rPr>
              <a:t>OC autorizada</a:t>
            </a:r>
            <a:r>
              <a:rPr lang="es-MX" sz="2000" dirty="0">
                <a:solidFill>
                  <a:srgbClr val="008BB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s-MX" sz="2000" dirty="0">
              <a:solidFill>
                <a:srgbClr val="008BB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09006-1788-70B3-F7F9-DE961DBE5EE6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Golden rules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642E3-E280-2588-63F0-A3178919405D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F7C6C-3683-DE5A-4480-E9C8494D5129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19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4841E-014F-886A-97C3-6F45F63039D4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D35A1-AEEC-A1BA-4693-6B6EB8F7978F}"/>
              </a:ext>
            </a:extLst>
          </p:cNvPr>
          <p:cNvSpPr txBox="1"/>
          <p:nvPr/>
        </p:nvSpPr>
        <p:spPr>
          <a:xfrm>
            <a:off x="233265" y="1215267"/>
            <a:ext cx="4058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Proceso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69A8BC-1345-62A2-D0E5-85250AA9C750}"/>
              </a:ext>
            </a:extLst>
          </p:cNvPr>
          <p:cNvGrpSpPr/>
          <p:nvPr/>
        </p:nvGrpSpPr>
        <p:grpSpPr>
          <a:xfrm>
            <a:off x="806937" y="2679427"/>
            <a:ext cx="1726163" cy="1394292"/>
            <a:chOff x="381971" y="2415367"/>
            <a:chExt cx="1726163" cy="1394292"/>
          </a:xfrm>
        </p:grpSpPr>
        <p:sp>
          <p:nvSpPr>
            <p:cNvPr id="19" name="Teardrop 18">
              <a:extLst>
                <a:ext uri="{FF2B5EF4-FFF2-40B4-BE49-F238E27FC236}">
                  <a16:creationId xmlns:a16="http://schemas.microsoft.com/office/drawing/2014/main" id="{BF64A899-ECAE-BF4B-4290-4D521E8AD95B}"/>
                </a:ext>
              </a:extLst>
            </p:cNvPr>
            <p:cNvSpPr/>
            <p:nvPr/>
          </p:nvSpPr>
          <p:spPr>
            <a:xfrm>
              <a:off x="381971" y="2415367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CBC61BE-3158-18F8-C2D6-F7B86A2BA81A}"/>
                </a:ext>
              </a:extLst>
            </p:cNvPr>
            <p:cNvSpPr/>
            <p:nvPr/>
          </p:nvSpPr>
          <p:spPr>
            <a:xfrm>
              <a:off x="492547" y="2476770"/>
              <a:ext cx="1504204" cy="1269194"/>
            </a:xfrm>
            <a:prstGeom prst="ellipse">
              <a:avLst/>
            </a:prstGeom>
            <a:gradFill flip="none" rotWithShape="1">
              <a:gsLst>
                <a:gs pos="0">
                  <a:srgbClr val="7DE3FF">
                    <a:shade val="30000"/>
                    <a:satMod val="115000"/>
                  </a:srgbClr>
                </a:gs>
                <a:gs pos="50000">
                  <a:srgbClr val="7DE3FF">
                    <a:shade val="67500"/>
                    <a:satMod val="115000"/>
                  </a:srgbClr>
                </a:gs>
                <a:gs pos="100000">
                  <a:srgbClr val="7DE3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38F405-36F1-E27A-568C-6CDDFBDC141A}"/>
                </a:ext>
              </a:extLst>
            </p:cNvPr>
            <p:cNvSpPr txBox="1"/>
            <p:nvPr/>
          </p:nvSpPr>
          <p:spPr>
            <a:xfrm>
              <a:off x="549492" y="2714722"/>
              <a:ext cx="13903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itchFamily="2" charset="0"/>
                  <a:ea typeface="Roboto" pitchFamily="2" charset="0"/>
                </a:rPr>
                <a:t>Requerimiento especifico por parte del usuario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3E9FF2-E2E4-D7E7-B629-7E00DBCF5259}"/>
              </a:ext>
            </a:extLst>
          </p:cNvPr>
          <p:cNvGrpSpPr/>
          <p:nvPr/>
        </p:nvGrpSpPr>
        <p:grpSpPr>
          <a:xfrm>
            <a:off x="2897026" y="2641272"/>
            <a:ext cx="1726163" cy="1394292"/>
            <a:chOff x="2392512" y="2444808"/>
            <a:chExt cx="1726163" cy="1394292"/>
          </a:xfrm>
        </p:grpSpPr>
        <p:sp>
          <p:nvSpPr>
            <p:cNvPr id="12" name="Teardrop 11">
              <a:extLst>
                <a:ext uri="{FF2B5EF4-FFF2-40B4-BE49-F238E27FC236}">
                  <a16:creationId xmlns:a16="http://schemas.microsoft.com/office/drawing/2014/main" id="{4BBA6EF5-19AC-C74A-E9A3-81B54D5464F6}"/>
                </a:ext>
              </a:extLst>
            </p:cNvPr>
            <p:cNvSpPr/>
            <p:nvPr/>
          </p:nvSpPr>
          <p:spPr>
            <a:xfrm>
              <a:off x="2392512" y="2444808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487267-D83D-0767-C5B4-319ED154797E}"/>
                </a:ext>
              </a:extLst>
            </p:cNvPr>
            <p:cNvSpPr/>
            <p:nvPr/>
          </p:nvSpPr>
          <p:spPr>
            <a:xfrm>
              <a:off x="2475723" y="2518908"/>
              <a:ext cx="1504204" cy="1269194"/>
            </a:xfrm>
            <a:prstGeom prst="ellipse">
              <a:avLst/>
            </a:prstGeom>
            <a:gradFill flip="none" rotWithShape="1">
              <a:gsLst>
                <a:gs pos="0">
                  <a:srgbClr val="7DE3FF">
                    <a:shade val="30000"/>
                    <a:satMod val="115000"/>
                  </a:srgbClr>
                </a:gs>
                <a:gs pos="50000">
                  <a:srgbClr val="7DE3FF">
                    <a:shade val="67500"/>
                    <a:satMod val="115000"/>
                  </a:srgbClr>
                </a:gs>
                <a:gs pos="100000">
                  <a:srgbClr val="7DE3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A38AC8-67A2-8BBD-C93B-51A4D3CA7939}"/>
                </a:ext>
              </a:extLst>
            </p:cNvPr>
            <p:cNvSpPr txBox="1"/>
            <p:nvPr/>
          </p:nvSpPr>
          <p:spPr>
            <a:xfrm>
              <a:off x="2586913" y="2640108"/>
              <a:ext cx="139031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itchFamily="2" charset="0"/>
                  <a:ea typeface="Roboto" pitchFamily="2" charset="0"/>
                </a:rPr>
                <a:t>Cotizaciones por parte de compras con proveedores activos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A37519-B212-461B-7F91-38DC916B4D4D}"/>
              </a:ext>
            </a:extLst>
          </p:cNvPr>
          <p:cNvGrpSpPr/>
          <p:nvPr/>
        </p:nvGrpSpPr>
        <p:grpSpPr>
          <a:xfrm>
            <a:off x="4987115" y="2583678"/>
            <a:ext cx="1726163" cy="1394292"/>
            <a:chOff x="4597647" y="2476770"/>
            <a:chExt cx="1726163" cy="1394292"/>
          </a:xfrm>
        </p:grpSpPr>
        <p:sp>
          <p:nvSpPr>
            <p:cNvPr id="11" name="Teardrop 10">
              <a:extLst>
                <a:ext uri="{FF2B5EF4-FFF2-40B4-BE49-F238E27FC236}">
                  <a16:creationId xmlns:a16="http://schemas.microsoft.com/office/drawing/2014/main" id="{F709B5F1-698B-01C7-FAC3-2A6885455EDB}"/>
                </a:ext>
              </a:extLst>
            </p:cNvPr>
            <p:cNvSpPr/>
            <p:nvPr/>
          </p:nvSpPr>
          <p:spPr>
            <a:xfrm>
              <a:off x="4597647" y="2476770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DC2F95-7FAC-2C3A-4B87-AD81090A2D34}"/>
                </a:ext>
              </a:extLst>
            </p:cNvPr>
            <p:cNvSpPr/>
            <p:nvPr/>
          </p:nvSpPr>
          <p:spPr>
            <a:xfrm>
              <a:off x="4747117" y="2557179"/>
              <a:ext cx="1504204" cy="1269194"/>
            </a:xfrm>
            <a:prstGeom prst="ellipse">
              <a:avLst/>
            </a:prstGeom>
            <a:gradFill flip="none" rotWithShape="1">
              <a:gsLst>
                <a:gs pos="0">
                  <a:srgbClr val="7DE3FF">
                    <a:shade val="30000"/>
                    <a:satMod val="115000"/>
                  </a:srgbClr>
                </a:gs>
                <a:gs pos="50000">
                  <a:srgbClr val="7DE3FF">
                    <a:shade val="67500"/>
                    <a:satMod val="115000"/>
                  </a:srgbClr>
                </a:gs>
                <a:gs pos="100000">
                  <a:srgbClr val="7DE3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8538D2-030A-235C-A36A-22BD0876654A}"/>
                </a:ext>
              </a:extLst>
            </p:cNvPr>
            <p:cNvSpPr txBox="1"/>
            <p:nvPr/>
          </p:nvSpPr>
          <p:spPr>
            <a:xfrm>
              <a:off x="4785880" y="2714722"/>
              <a:ext cx="13903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itchFamily="2" charset="0"/>
                  <a:ea typeface="Roboto" pitchFamily="2" charset="0"/>
                </a:rPr>
                <a:t>Generación de SP en SAP, detallando lo solicitado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8B3769-94B0-7724-36CD-2ED833DA265E}"/>
              </a:ext>
            </a:extLst>
          </p:cNvPr>
          <p:cNvGrpSpPr/>
          <p:nvPr/>
        </p:nvGrpSpPr>
        <p:grpSpPr>
          <a:xfrm>
            <a:off x="7077204" y="2519344"/>
            <a:ext cx="1726163" cy="1394292"/>
            <a:chOff x="6883956" y="2429831"/>
            <a:chExt cx="1726163" cy="1394292"/>
          </a:xfrm>
        </p:grpSpPr>
        <p:sp>
          <p:nvSpPr>
            <p:cNvPr id="8" name="Teardrop 7">
              <a:extLst>
                <a:ext uri="{FF2B5EF4-FFF2-40B4-BE49-F238E27FC236}">
                  <a16:creationId xmlns:a16="http://schemas.microsoft.com/office/drawing/2014/main" id="{A7D1AFB9-4EE8-1C7A-5499-58116CF6E7D5}"/>
                </a:ext>
              </a:extLst>
            </p:cNvPr>
            <p:cNvSpPr/>
            <p:nvPr/>
          </p:nvSpPr>
          <p:spPr>
            <a:xfrm>
              <a:off x="6883956" y="2429831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468C4A5-B42F-005F-0C3B-065844C86EC1}"/>
                </a:ext>
              </a:extLst>
            </p:cNvPr>
            <p:cNvSpPr/>
            <p:nvPr/>
          </p:nvSpPr>
          <p:spPr>
            <a:xfrm>
              <a:off x="6991911" y="2476770"/>
              <a:ext cx="1504204" cy="1269194"/>
            </a:xfrm>
            <a:prstGeom prst="ellipse">
              <a:avLst/>
            </a:prstGeom>
            <a:gradFill flip="none" rotWithShape="1">
              <a:gsLst>
                <a:gs pos="0">
                  <a:srgbClr val="7DE3FF">
                    <a:shade val="30000"/>
                    <a:satMod val="115000"/>
                  </a:srgbClr>
                </a:gs>
                <a:gs pos="50000">
                  <a:srgbClr val="7DE3FF">
                    <a:shade val="67500"/>
                    <a:satMod val="115000"/>
                  </a:srgbClr>
                </a:gs>
                <a:gs pos="100000">
                  <a:srgbClr val="7DE3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A1995D6-7AB8-DCD6-05C5-71467385C7C5}"/>
                </a:ext>
              </a:extLst>
            </p:cNvPr>
            <p:cNvSpPr txBox="1"/>
            <p:nvPr/>
          </p:nvSpPr>
          <p:spPr>
            <a:xfrm>
              <a:off x="6991912" y="2649924"/>
              <a:ext cx="144725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itchFamily="2" charset="0"/>
                  <a:ea typeface="Roboto" pitchFamily="2" charset="0"/>
                </a:rPr>
                <a:t>Generación de OC, adjuntando respaldos a SAP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9577C6E-1118-84B8-89F7-6C945840F23F}"/>
              </a:ext>
            </a:extLst>
          </p:cNvPr>
          <p:cNvGrpSpPr/>
          <p:nvPr/>
        </p:nvGrpSpPr>
        <p:grpSpPr>
          <a:xfrm>
            <a:off x="9167293" y="2519344"/>
            <a:ext cx="1726163" cy="1394292"/>
            <a:chOff x="9415749" y="2415367"/>
            <a:chExt cx="1726163" cy="1394292"/>
          </a:xfrm>
        </p:grpSpPr>
        <p:sp>
          <p:nvSpPr>
            <p:cNvPr id="7" name="Teardrop 6">
              <a:extLst>
                <a:ext uri="{FF2B5EF4-FFF2-40B4-BE49-F238E27FC236}">
                  <a16:creationId xmlns:a16="http://schemas.microsoft.com/office/drawing/2014/main" id="{55E786E8-D4A3-34E6-AE6B-50946509C7F1}"/>
                </a:ext>
              </a:extLst>
            </p:cNvPr>
            <p:cNvSpPr/>
            <p:nvPr/>
          </p:nvSpPr>
          <p:spPr>
            <a:xfrm>
              <a:off x="9415749" y="2415367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ED2B56-29F7-5CBE-3825-F270CDC5F768}"/>
                </a:ext>
              </a:extLst>
            </p:cNvPr>
            <p:cNvSpPr/>
            <p:nvPr/>
          </p:nvSpPr>
          <p:spPr>
            <a:xfrm>
              <a:off x="9526728" y="2458524"/>
              <a:ext cx="1504204" cy="1269194"/>
            </a:xfrm>
            <a:prstGeom prst="ellipse">
              <a:avLst/>
            </a:prstGeom>
            <a:gradFill flip="none" rotWithShape="1">
              <a:gsLst>
                <a:gs pos="0">
                  <a:srgbClr val="7DE3FF">
                    <a:shade val="30000"/>
                    <a:satMod val="115000"/>
                  </a:srgbClr>
                </a:gs>
                <a:gs pos="50000">
                  <a:srgbClr val="7DE3FF">
                    <a:shade val="67500"/>
                    <a:satMod val="115000"/>
                  </a:srgbClr>
                </a:gs>
                <a:gs pos="100000">
                  <a:srgbClr val="7DE3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6B022B-54BD-C00D-F60C-76798285861A}"/>
                </a:ext>
              </a:extLst>
            </p:cNvPr>
            <p:cNvSpPr txBox="1"/>
            <p:nvPr/>
          </p:nvSpPr>
          <p:spPr>
            <a:xfrm>
              <a:off x="9583673" y="2557179"/>
              <a:ext cx="150420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itchFamily="2" charset="0"/>
                  <a:ea typeface="Roboto" pitchFamily="2" charset="0"/>
                </a:rPr>
                <a:t>Autorización de OC en SAP por autorizador del </a:t>
              </a:r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FF00"/>
                  </a:highlight>
                  <a:latin typeface="Roboto" pitchFamily="2" charset="0"/>
                  <a:ea typeface="Roboto" pitchFamily="2" charset="0"/>
                </a:rPr>
                <a:t>CC/PEP/OI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70D246-FD02-F17B-9850-0A5C488E6491}"/>
              </a:ext>
            </a:extLst>
          </p:cNvPr>
          <p:cNvGrpSpPr/>
          <p:nvPr/>
        </p:nvGrpSpPr>
        <p:grpSpPr>
          <a:xfrm>
            <a:off x="2826732" y="4527180"/>
            <a:ext cx="1726163" cy="1394292"/>
            <a:chOff x="3298371" y="4082761"/>
            <a:chExt cx="1726163" cy="1394292"/>
          </a:xfrm>
        </p:grpSpPr>
        <p:sp>
          <p:nvSpPr>
            <p:cNvPr id="5" name="Teardrop 4">
              <a:extLst>
                <a:ext uri="{FF2B5EF4-FFF2-40B4-BE49-F238E27FC236}">
                  <a16:creationId xmlns:a16="http://schemas.microsoft.com/office/drawing/2014/main" id="{1FDE84D6-377A-A86E-D50A-467082B34ABE}"/>
                </a:ext>
              </a:extLst>
            </p:cNvPr>
            <p:cNvSpPr/>
            <p:nvPr/>
          </p:nvSpPr>
          <p:spPr>
            <a:xfrm>
              <a:off x="3298371" y="4082761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686AEF3-409E-4A1D-D29B-816372E86A15}"/>
                </a:ext>
              </a:extLst>
            </p:cNvPr>
            <p:cNvSpPr/>
            <p:nvPr/>
          </p:nvSpPr>
          <p:spPr>
            <a:xfrm>
              <a:off x="3409351" y="4137676"/>
              <a:ext cx="1504204" cy="1269194"/>
            </a:xfrm>
            <a:prstGeom prst="ellipse">
              <a:avLst/>
            </a:prstGeom>
            <a:gradFill flip="none" rotWithShape="1">
              <a:gsLst>
                <a:gs pos="0">
                  <a:srgbClr val="7DE3FF">
                    <a:shade val="30000"/>
                    <a:satMod val="115000"/>
                  </a:srgbClr>
                </a:gs>
                <a:gs pos="50000">
                  <a:srgbClr val="7DE3FF">
                    <a:shade val="67500"/>
                    <a:satMod val="115000"/>
                  </a:srgbClr>
                </a:gs>
                <a:gs pos="100000">
                  <a:srgbClr val="7DE3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E062B9F-B50F-40B9-44D1-B03016F94E24}"/>
                </a:ext>
              </a:extLst>
            </p:cNvPr>
            <p:cNvSpPr txBox="1"/>
            <p:nvPr/>
          </p:nvSpPr>
          <p:spPr>
            <a:xfrm>
              <a:off x="3304191" y="4237705"/>
              <a:ext cx="162896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itchFamily="2" charset="0"/>
                  <a:ea typeface="Roboto" pitchFamily="2" charset="0"/>
                </a:rPr>
                <a:t>Proveedor entrega servicio/ producto  hasta contar con OC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55DC67-CB8D-4350-9E71-88C5CE6D7C07}"/>
              </a:ext>
            </a:extLst>
          </p:cNvPr>
          <p:cNvGrpSpPr/>
          <p:nvPr/>
        </p:nvGrpSpPr>
        <p:grpSpPr>
          <a:xfrm>
            <a:off x="4987115" y="4472265"/>
            <a:ext cx="1726163" cy="1394292"/>
            <a:chOff x="6017850" y="4082761"/>
            <a:chExt cx="1726163" cy="1394292"/>
          </a:xfrm>
        </p:grpSpPr>
        <p:sp>
          <p:nvSpPr>
            <p:cNvPr id="6" name="Teardrop 5">
              <a:extLst>
                <a:ext uri="{FF2B5EF4-FFF2-40B4-BE49-F238E27FC236}">
                  <a16:creationId xmlns:a16="http://schemas.microsoft.com/office/drawing/2014/main" id="{AB26BA92-0204-DBEE-7312-DC197EFCF50D}"/>
                </a:ext>
              </a:extLst>
            </p:cNvPr>
            <p:cNvSpPr/>
            <p:nvPr/>
          </p:nvSpPr>
          <p:spPr>
            <a:xfrm>
              <a:off x="6017850" y="4082761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739F9-2557-0447-4E66-115E07ABD800}"/>
                </a:ext>
              </a:extLst>
            </p:cNvPr>
            <p:cNvGrpSpPr/>
            <p:nvPr/>
          </p:nvGrpSpPr>
          <p:grpSpPr>
            <a:xfrm>
              <a:off x="6128829" y="4137676"/>
              <a:ext cx="1504204" cy="1269194"/>
              <a:chOff x="6128829" y="4137676"/>
              <a:chExt cx="1504204" cy="1269194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CA3CAFC-6D92-49F5-7D9D-0848D2D07752}"/>
                  </a:ext>
                </a:extLst>
              </p:cNvPr>
              <p:cNvSpPr/>
              <p:nvPr/>
            </p:nvSpPr>
            <p:spPr>
              <a:xfrm>
                <a:off x="6128829" y="4137676"/>
                <a:ext cx="1504204" cy="1269194"/>
              </a:xfrm>
              <a:prstGeom prst="ellipse">
                <a:avLst/>
              </a:prstGeom>
              <a:gradFill flip="none" rotWithShape="1">
                <a:gsLst>
                  <a:gs pos="0">
                    <a:srgbClr val="7DE3FF">
                      <a:shade val="30000"/>
                      <a:satMod val="115000"/>
                    </a:srgbClr>
                  </a:gs>
                  <a:gs pos="50000">
                    <a:srgbClr val="7DE3FF">
                      <a:shade val="67500"/>
                      <a:satMod val="115000"/>
                    </a:srgbClr>
                  </a:gs>
                  <a:gs pos="100000">
                    <a:srgbClr val="7DE3FF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52400" h="508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8476EBE-F312-778D-49B3-72E7625D4F77}"/>
                  </a:ext>
                </a:extLst>
              </p:cNvPr>
              <p:cNvSpPr txBox="1"/>
              <p:nvPr/>
            </p:nvSpPr>
            <p:spPr>
              <a:xfrm>
                <a:off x="6128829" y="4195131"/>
                <a:ext cx="15042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400" b="1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Roboto" pitchFamily="2" charset="0"/>
                    <a:ea typeface="Roboto" pitchFamily="2" charset="0"/>
                  </a:rPr>
                  <a:t>Proveedor factura y recepciona con fecha posterior a  OC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82DEA7-799E-0666-F402-1B06170D77FD}"/>
              </a:ext>
            </a:extLst>
          </p:cNvPr>
          <p:cNvGrpSpPr/>
          <p:nvPr/>
        </p:nvGrpSpPr>
        <p:grpSpPr>
          <a:xfrm>
            <a:off x="7007306" y="4407564"/>
            <a:ext cx="1859908" cy="1394292"/>
            <a:chOff x="8540222" y="4067994"/>
            <a:chExt cx="1859908" cy="1394292"/>
          </a:xfrm>
        </p:grpSpPr>
        <p:sp>
          <p:nvSpPr>
            <p:cNvPr id="43" name="Teardrop 42">
              <a:extLst>
                <a:ext uri="{FF2B5EF4-FFF2-40B4-BE49-F238E27FC236}">
                  <a16:creationId xmlns:a16="http://schemas.microsoft.com/office/drawing/2014/main" id="{B364916D-FD45-D380-0D3B-5C6A4CA7140D}"/>
                </a:ext>
              </a:extLst>
            </p:cNvPr>
            <p:cNvSpPr/>
            <p:nvPr/>
          </p:nvSpPr>
          <p:spPr>
            <a:xfrm>
              <a:off x="8607095" y="4067994"/>
              <a:ext cx="1726163" cy="1394292"/>
            </a:xfrm>
            <a:prstGeom prst="teardrop">
              <a:avLst>
                <a:gd name="adj" fmla="val 98571"/>
              </a:avLst>
            </a:prstGeom>
            <a:gradFill flip="none" rotWithShape="1">
              <a:gsLst>
                <a:gs pos="0">
                  <a:srgbClr val="008BB0">
                    <a:shade val="30000"/>
                    <a:satMod val="115000"/>
                  </a:srgbClr>
                </a:gs>
                <a:gs pos="50000">
                  <a:srgbClr val="008BB0">
                    <a:shade val="67500"/>
                    <a:satMod val="115000"/>
                  </a:srgbClr>
                </a:gs>
                <a:gs pos="100000">
                  <a:srgbClr val="008BB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C98CC67-4626-8B3F-9AC3-A42DEF39EA44}"/>
                </a:ext>
              </a:extLst>
            </p:cNvPr>
            <p:cNvSpPr/>
            <p:nvPr/>
          </p:nvSpPr>
          <p:spPr>
            <a:xfrm>
              <a:off x="8774626" y="4137676"/>
              <a:ext cx="1504204" cy="1308227"/>
            </a:xfrm>
            <a:prstGeom prst="ellipse">
              <a:avLst/>
            </a:prstGeom>
            <a:gradFill flip="none" rotWithShape="1">
              <a:gsLst>
                <a:gs pos="0">
                  <a:srgbClr val="7DE3FF">
                    <a:shade val="30000"/>
                    <a:satMod val="115000"/>
                  </a:srgbClr>
                </a:gs>
                <a:gs pos="50000">
                  <a:srgbClr val="7DE3FF">
                    <a:shade val="67500"/>
                    <a:satMod val="115000"/>
                  </a:srgbClr>
                </a:gs>
                <a:gs pos="100000">
                  <a:srgbClr val="7DE3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EFBFCAA-CC76-C66A-B452-FF86AFFF08F2}"/>
                </a:ext>
              </a:extLst>
            </p:cNvPr>
            <p:cNvSpPr txBox="1"/>
            <p:nvPr/>
          </p:nvSpPr>
          <p:spPr>
            <a:xfrm>
              <a:off x="8540222" y="4479899"/>
              <a:ext cx="18599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oboto" pitchFamily="2" charset="0"/>
                  <a:ea typeface="Roboto" pitchFamily="2" charset="0"/>
                </a:rPr>
                <a:t>CxC contabiliza y manda a pago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AD25EBF-FEC6-6BF9-90E1-6100586D6F5B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B0CCB30-0CDA-EDE5-992E-5C96C6E66CF1}"/>
              </a:ext>
            </a:extLst>
          </p:cNvPr>
          <p:cNvSpPr/>
          <p:nvPr/>
        </p:nvSpPr>
        <p:spPr>
          <a:xfrm>
            <a:off x="11166078" y="2975468"/>
            <a:ext cx="499180" cy="30927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C04ADC3-9B4D-DECC-699D-79D8A541F6AA}"/>
              </a:ext>
            </a:extLst>
          </p:cNvPr>
          <p:cNvSpPr/>
          <p:nvPr/>
        </p:nvSpPr>
        <p:spPr>
          <a:xfrm>
            <a:off x="2039344" y="5040204"/>
            <a:ext cx="499180" cy="30927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41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9B87B-8CDC-4BB2-460A-67E71BF7B4D9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Actualización 2023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102637" y="1767668"/>
            <a:ext cx="115792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"/>
            </a:pPr>
            <a:r>
              <a:rPr lang="es-MX" sz="1600" dirty="0">
                <a:solidFill>
                  <a:srgbClr val="008BB0"/>
                </a:solidFill>
                <a:latin typeface="Calibri (Body)"/>
              </a:rPr>
              <a:t>Compras menores a USD 500 o su monto equivalente, una sola cotización, entre USD 500 y USD 3,000 o su monto equivalente deberán contar con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2 cotizaciones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, y para montos mayores a USD 3,000 se debe tener al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menos 3 cotizaciones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.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Cualquiera que sea el caso deberá de subirse a SAP como respaldo de la OC.</a:t>
            </a:r>
          </a:p>
          <a:p>
            <a:pPr lvl="0" algn="just"/>
            <a:endParaRPr lang="es-MX" sz="1600" b="1" dirty="0">
              <a:solidFill>
                <a:srgbClr val="008BB0"/>
              </a:solidFill>
              <a:latin typeface="Calibri (Body)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r>
              <a:rPr lang="es-MX" sz="1600" dirty="0">
                <a:solidFill>
                  <a:srgbClr val="008BB0"/>
                </a:solidFill>
                <a:latin typeface="Calibri (Body)"/>
              </a:rPr>
              <a:t>No se requieren cotizaciones cuando exista un contrato, acuerdo o convenio negociado por parte del Corporativo de Indirectos.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Pero se tendrá que subir a SAP como respaldo de la OC. (En caso de contrato se colocará el # de contrato en PACTUM).</a:t>
            </a: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endParaRPr lang="es-MX" sz="1600" dirty="0">
              <a:solidFill>
                <a:srgbClr val="008BB0"/>
              </a:solidFill>
              <a:latin typeface="Calibri (Body)"/>
            </a:endParaRPr>
          </a:p>
          <a:p>
            <a:pPr marL="342900" indent="-342900" algn="just">
              <a:buFont typeface="Wingdings" panose="05000000000000000000" pitchFamily="2" charset="2"/>
              <a:buChar char=""/>
            </a:pPr>
            <a:r>
              <a:rPr lang="es-MX" sz="1600" dirty="0">
                <a:solidFill>
                  <a:srgbClr val="008BB0"/>
                </a:solidFill>
                <a:latin typeface="Calibri (Body)"/>
              </a:rPr>
              <a:t>Las compras por un monto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mayor a USD 150,000 deberán ser consideradas en un proceso de licitación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, el cual deberá estar validado por finanzas CDV.</a:t>
            </a:r>
          </a:p>
          <a:p>
            <a:pPr algn="just"/>
            <a:endParaRPr lang="es-MX" sz="1600" dirty="0">
              <a:solidFill>
                <a:srgbClr val="008BB0"/>
              </a:solidFill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008BB0"/>
                </a:solidFill>
                <a:latin typeface="Calibri (Body)"/>
              </a:rPr>
              <a:t>Informar al requisitor el tiempo de entrega del producto/servicio comprometido por el proveedor, </a:t>
            </a:r>
            <a:r>
              <a:rPr lang="es-ES" sz="1600" b="1" dirty="0">
                <a:solidFill>
                  <a:srgbClr val="008BB0"/>
                </a:solidFill>
                <a:latin typeface="Calibri (Body)"/>
              </a:rPr>
              <a:t>para que este pueda colocarlo en la Solicitud de Pedido en sistema (deberá coincidir con la cotización).</a:t>
            </a:r>
            <a:endParaRPr lang="es-MX" sz="1600" dirty="0">
              <a:solidFill>
                <a:srgbClr val="008BB0"/>
              </a:solidFill>
              <a:latin typeface="Calibri (Body)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endParaRPr lang="es-MX" sz="1600" dirty="0">
              <a:solidFill>
                <a:srgbClr val="008BB0"/>
              </a:solidFill>
              <a:latin typeface="Calibri (Body)"/>
            </a:endParaRPr>
          </a:p>
          <a:p>
            <a:pPr marL="342900" indent="-342900" algn="just">
              <a:buFont typeface="Wingdings" panose="05000000000000000000" pitchFamily="2" charset="2"/>
              <a:buChar char=""/>
            </a:pPr>
            <a:r>
              <a:rPr lang="en-US" sz="1600" b="1" i="1" u="none" strike="noStrike" baseline="0" dirty="0">
                <a:solidFill>
                  <a:srgbClr val="008BB0"/>
                </a:solidFill>
                <a:latin typeface="Calibri (Body)"/>
              </a:rPr>
              <a:t>Rol como ALMACEN (Industrial) </a:t>
            </a:r>
            <a:r>
              <a:rPr lang="es-MX" sz="1600" dirty="0">
                <a:solidFill>
                  <a:srgbClr val="008BB0"/>
                </a:solidFill>
                <a:effectLst/>
                <a:latin typeface="Calibri (Body)"/>
                <a:ea typeface="Arial" panose="020B0604020202020204" pitchFamily="34" charset="0"/>
              </a:rPr>
              <a:t>Es el único conducto para recibo y custodia de materiales, bienes y/o servicios, los cuales deben ser entregados por los proveedores con la documentación correspondiente.</a:t>
            </a:r>
          </a:p>
          <a:p>
            <a:pPr marL="342900" indent="-342900" algn="just">
              <a:buFont typeface="Wingdings" panose="05000000000000000000" pitchFamily="2" charset="2"/>
              <a:buChar char=""/>
            </a:pPr>
            <a:endParaRPr lang="en-US" sz="1600" dirty="0">
              <a:solidFill>
                <a:srgbClr val="008BB0"/>
              </a:solidFill>
              <a:effectLst/>
              <a:latin typeface="Calibri (Body)"/>
              <a:ea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r>
              <a:rPr lang="en-US" sz="1600" b="1" i="1" u="none" strike="noStrike" baseline="0" dirty="0">
                <a:solidFill>
                  <a:srgbClr val="008BB0"/>
                </a:solidFill>
                <a:latin typeface="Calibri (Body)"/>
              </a:rPr>
              <a:t>Rol como (Recepción Comercial).</a:t>
            </a:r>
            <a:r>
              <a:rPr lang="es-ES" sz="1600" b="0" i="0" u="none" strike="noStrike" baseline="0" dirty="0">
                <a:solidFill>
                  <a:srgbClr val="008BB0"/>
                </a:solidFill>
                <a:latin typeface="Calibri (Body)"/>
              </a:rPr>
              <a:t>En caso de servicios intangibles, realizar el formato de recepción para servicios intangibles</a:t>
            </a:r>
            <a:endParaRPr lang="es-MX" sz="1600" dirty="0">
              <a:solidFill>
                <a:srgbClr val="008BB0"/>
              </a:solidFill>
              <a:latin typeface="Calibri (Body)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endParaRPr lang="es-MX" sz="1600" dirty="0">
              <a:solidFill>
                <a:srgbClr val="008BB0"/>
              </a:solidFill>
              <a:latin typeface="Calibri Light" panose="020F030202020403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Recepción </a:t>
            </a:r>
            <a:r>
              <a:rPr lang="es-ES" sz="1600" b="0" i="0" u="none" strike="noStrike" baseline="0" dirty="0">
                <a:solidFill>
                  <a:srgbClr val="008BB0"/>
                </a:solidFill>
                <a:latin typeface="Calibri (Body)"/>
              </a:rPr>
              <a:t>En el caso de </a:t>
            </a:r>
            <a:r>
              <a:rPr lang="es-ES" sz="1600" b="1" i="0" u="none" strike="noStrike" baseline="0" dirty="0">
                <a:solidFill>
                  <a:srgbClr val="008BB0"/>
                </a:solidFill>
                <a:latin typeface="Calibri (Body)"/>
              </a:rPr>
              <a:t>servicios intangibles </a:t>
            </a:r>
            <a:r>
              <a:rPr lang="es-ES" sz="1600" b="0" i="0" u="none" strike="noStrike" baseline="0" dirty="0">
                <a:solidFill>
                  <a:srgbClr val="008BB0"/>
                </a:solidFill>
                <a:latin typeface="Calibri (Body)"/>
              </a:rPr>
              <a:t>se debe presentar orden de compra y factura con la firma del usuario y Gerente del Área de acuerdo con el trabajo realizado. (Ej. Trabajos en planta=Gerente, mantenimiento, eventos, movimientos de máquinas, capacitaciones, etc.).</a:t>
            </a:r>
            <a:endParaRPr lang="es-MX" sz="1600" dirty="0">
              <a:solidFill>
                <a:srgbClr val="008BB0"/>
              </a:solidFill>
              <a:latin typeface="Calibri (Body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E479B-B5D1-9C1B-3A57-851C4D8D477F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766EC-88F9-D936-79FD-1C5312F0D9B2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9B87B-8CDC-4BB2-460A-67E71BF7B4D9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Actualización 2023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233265" y="2179796"/>
            <a:ext cx="115792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MX" sz="2000" b="1" i="1" dirty="0">
                <a:solidFill>
                  <a:srgbClr val="008BB0"/>
                </a:solidFill>
                <a:latin typeface="Calibri (Body)"/>
              </a:rPr>
              <a:t>Recepción Comercial</a:t>
            </a:r>
            <a:r>
              <a:rPr lang="es-MX" sz="2000" dirty="0">
                <a:solidFill>
                  <a:srgbClr val="008BB0"/>
                </a:solidFill>
                <a:latin typeface="Calibri (Body)"/>
              </a:rPr>
              <a:t>: </a:t>
            </a: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Una vez </a:t>
            </a:r>
            <a:r>
              <a:rPr lang="es-ES" sz="2000" b="1" i="0" u="none" strike="noStrike" baseline="0" dirty="0">
                <a:solidFill>
                  <a:srgbClr val="008BB0"/>
                </a:solidFill>
                <a:latin typeface="Calibri (Body)"/>
              </a:rPr>
              <a:t>concluido el servicio o entregado el producto</a:t>
            </a: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, es obligación del Proveedor, subir la factura al portal y mandar la información completa (orden de compra, PDF de factura, pantallas de factura en el portal, remisión con fecha, nombre y firma de conformidad quien recibió el producto servicio, así como </a:t>
            </a:r>
            <a:r>
              <a:rPr lang="es-ES" sz="2000" i="0" u="none" strike="noStrike" baseline="0" dirty="0">
                <a:solidFill>
                  <a:srgbClr val="008BB0"/>
                </a:solidFill>
                <a:latin typeface="Calibri (Body)"/>
              </a:rPr>
              <a:t>el</a:t>
            </a:r>
            <a:r>
              <a:rPr lang="es-ES" sz="2000" b="1" i="0" u="none" strike="noStrike" baseline="0" dirty="0">
                <a:solidFill>
                  <a:srgbClr val="008BB0"/>
                </a:solidFill>
                <a:latin typeface="Calibri (Body)"/>
              </a:rPr>
              <a:t> formato de recepción para servicios intangibles. “</a:t>
            </a:r>
            <a:r>
              <a:rPr lang="es-ES" sz="2000" b="1" i="1" u="none" strike="noStrike" baseline="0" dirty="0">
                <a:solidFill>
                  <a:srgbClr val="008BB0"/>
                </a:solidFill>
                <a:latin typeface="Calibri (Body)"/>
              </a:rPr>
              <a:t>Ver Anexo 10.6 Recepción de Intangibles”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s-ES" sz="2000" b="1" i="1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2000" b="1" i="1" dirty="0">
                <a:solidFill>
                  <a:srgbClr val="008BB0"/>
                </a:solidFill>
                <a:latin typeface="Calibri (Body)"/>
              </a:rPr>
              <a:t>Recepción plantas: </a:t>
            </a: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Al momento de recibir material bienes o servicio se deberá solicitar la factura firmada y/o sellada por el usuario o responsable del área solicitante y el formato de recepción (anexo) por el usuario o </a:t>
            </a:r>
            <a:r>
              <a:rPr lang="en-US" sz="2000" b="0" i="0" u="none" strike="noStrike" baseline="0" dirty="0" err="1">
                <a:solidFill>
                  <a:srgbClr val="008BB0"/>
                </a:solidFill>
                <a:latin typeface="Calibri (Body)"/>
              </a:rPr>
              <a:t>responsable</a:t>
            </a:r>
            <a:r>
              <a:rPr lang="en-US" sz="2000" b="0" i="0" u="none" strike="noStrike" baseline="0" dirty="0">
                <a:solidFill>
                  <a:srgbClr val="008BB0"/>
                </a:solidFill>
                <a:latin typeface="Calibri (Body)"/>
              </a:rPr>
              <a:t> del </a:t>
            </a:r>
            <a:r>
              <a:rPr lang="en-US" sz="2000" b="0" i="0" u="none" strike="noStrike" baseline="0" dirty="0" err="1">
                <a:solidFill>
                  <a:srgbClr val="008BB0"/>
                </a:solidFill>
                <a:latin typeface="Calibri (Body)"/>
              </a:rPr>
              <a:t>área</a:t>
            </a:r>
            <a:r>
              <a:rPr lang="en-US" sz="2000" b="0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n-US" sz="2000" b="0" i="0" u="none" strike="noStrike" baseline="0" dirty="0" err="1">
                <a:solidFill>
                  <a:srgbClr val="008BB0"/>
                </a:solidFill>
                <a:latin typeface="Calibri (Body)"/>
              </a:rPr>
              <a:t>solicitante</a:t>
            </a:r>
            <a:r>
              <a:rPr lang="en-US" sz="2000" b="0" i="0" u="none" strike="noStrike" baseline="0" dirty="0">
                <a:solidFill>
                  <a:srgbClr val="008BB0"/>
                </a:solidFill>
                <a:latin typeface="Calibri (Body)"/>
              </a:rPr>
              <a:t>.</a:t>
            </a:r>
            <a:endParaRPr lang="es-MX" sz="2000" b="1" dirty="0">
              <a:solidFill>
                <a:srgbClr val="008BB0"/>
              </a:solidFill>
              <a:latin typeface="Calibri (Body)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endParaRPr lang="es-MX" sz="2000" b="1" dirty="0">
              <a:solidFill>
                <a:srgbClr val="008BB0"/>
              </a:solidFill>
              <a:latin typeface="Calibri (Body)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En caso de tratarse de una compra indirecta entre filiales no se requerirán cotizaciones. </a:t>
            </a:r>
            <a:endParaRPr lang="es-MX" sz="2000" dirty="0">
              <a:solidFill>
                <a:srgbClr val="008BB0"/>
              </a:solidFill>
              <a:latin typeface="Calibri (Body)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endParaRPr lang="es-MX" sz="2000" dirty="0">
              <a:solidFill>
                <a:srgbClr val="008BB0"/>
              </a:solidFill>
              <a:latin typeface="Calibri Light" panose="020F030202020403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2000" b="0" i="0" u="none" strike="noStrike" baseline="0" dirty="0">
                <a:solidFill>
                  <a:srgbClr val="008BB0"/>
                </a:solidFill>
                <a:latin typeface="Calibri-Light"/>
              </a:rPr>
              <a:t>Todas las compras deben contar con las autorizaciones necesarias de acuerdo con el monto</a:t>
            </a:r>
          </a:p>
          <a:p>
            <a:pPr algn="l"/>
            <a:r>
              <a:rPr lang="es-ES" sz="2000" b="0" i="0" u="none" strike="noStrike" baseline="0" dirty="0">
                <a:solidFill>
                  <a:srgbClr val="008BB0"/>
                </a:solidFill>
                <a:latin typeface="Calibri-Light"/>
              </a:rPr>
              <a:t>      conforme al punto 5.7 de esta política.  </a:t>
            </a:r>
            <a:endParaRPr lang="es-MX" sz="2000" dirty="0">
              <a:solidFill>
                <a:srgbClr val="008BB0"/>
              </a:solidFill>
              <a:latin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E479B-B5D1-9C1B-3A57-851C4D8D477F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108CA-A54A-666D-843F-D44100D9B3BC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1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9B87B-8CDC-4BB2-460A-67E71BF7B4D9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Comité de compras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233264" y="2134050"/>
            <a:ext cx="115792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Se aplicará para compras de </a:t>
            </a:r>
            <a:r>
              <a:rPr lang="es-ES" sz="2000" b="1" i="0" u="none" strike="noStrike" baseline="0" dirty="0">
                <a:solidFill>
                  <a:srgbClr val="008BB0"/>
                </a:solidFill>
                <a:latin typeface="Calibri (Body)"/>
              </a:rPr>
              <a:t>proyectos integrales de infraestructura de planta donde la suma de este sea mayor a 100,000 USD de indirectos CAPEX-OPEX </a:t>
            </a: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(obra civil-construcción, instalaciones electromecánicas, compra e instalación de activos relacionados con la infraestructura-manufactura, integración y automatización, proyectos Lean, y aquellas que sean definidas por la Gerencia de </a:t>
            </a:r>
            <a:r>
              <a:rPr lang="en-US" sz="2000" b="0" i="0" u="none" strike="noStrike" baseline="0" dirty="0">
                <a:solidFill>
                  <a:srgbClr val="008BB0"/>
                </a:solidFill>
                <a:latin typeface="Calibri (Body)"/>
              </a:rPr>
              <a:t>Compras Indirectas).</a:t>
            </a:r>
          </a:p>
          <a:p>
            <a:pPr algn="just"/>
            <a:endParaRPr lang="es-MX" sz="2000" b="1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2000" b="1" i="0" u="none" strike="noStrike" baseline="0" dirty="0">
                <a:solidFill>
                  <a:srgbClr val="008BB0"/>
                </a:solidFill>
                <a:latin typeface="Calibri (Body)"/>
              </a:rPr>
              <a:t>El usuario es responsable de solicitar comité </a:t>
            </a: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al Negociador y generar la presentación de acuerdo con </a:t>
            </a:r>
            <a:r>
              <a:rPr lang="en-US" sz="2000" b="0" i="0" u="none" strike="noStrike" baseline="0" dirty="0">
                <a:solidFill>
                  <a:srgbClr val="008BB0"/>
                </a:solidFill>
                <a:latin typeface="Calibri (Body)"/>
              </a:rPr>
              <a:t>el proceso del comité.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2000" b="0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s-ES" sz="2000" b="1" i="0" u="none" strike="noStrike" baseline="0" dirty="0">
                <a:solidFill>
                  <a:srgbClr val="008BB0"/>
                </a:solidFill>
                <a:latin typeface="Calibri (Body)"/>
              </a:rPr>
              <a:t>El Comprador se asegurará de tener el visto bueno </a:t>
            </a: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del comité para generar las órdenes de compra </a:t>
            </a:r>
            <a:r>
              <a:rPr lang="en-US" sz="2000" b="0" i="0" u="none" strike="noStrike" baseline="0" dirty="0">
                <a:solidFill>
                  <a:srgbClr val="008BB0"/>
                </a:solidFill>
                <a:latin typeface="Calibri (Body)"/>
              </a:rPr>
              <a:t>relacionadas con el proyecto.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2000" b="0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s-ES" sz="2000" b="1" i="0" u="none" strike="noStrike" baseline="0" dirty="0">
                <a:solidFill>
                  <a:srgbClr val="008BB0"/>
                </a:solidFill>
                <a:latin typeface="Calibri (Body)"/>
              </a:rPr>
              <a:t>El Negociador de Indirectos, validará si el proyecto aplica para comité </a:t>
            </a:r>
            <a:r>
              <a:rPr lang="es-ES" sz="2000" b="0" i="0" u="none" strike="noStrike" baseline="0" dirty="0">
                <a:solidFill>
                  <a:srgbClr val="008BB0"/>
                </a:solidFill>
                <a:latin typeface="Calibri (Body)"/>
              </a:rPr>
              <a:t>y se asegurará del cumplimiento de los requisitos para llevarlo a cabo con la frecuencia que se defina.</a:t>
            </a:r>
            <a:endParaRPr lang="es-MX" sz="2000" dirty="0">
              <a:solidFill>
                <a:srgbClr val="008BB0"/>
              </a:solidFill>
              <a:latin typeface="Calibri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B563D-FA53-A14E-B2E0-F4857FB58383}"/>
              </a:ext>
            </a:extLst>
          </p:cNvPr>
          <p:cNvSpPr txBox="1"/>
          <p:nvPr/>
        </p:nvSpPr>
        <p:spPr>
          <a:xfrm>
            <a:off x="233264" y="558800"/>
            <a:ext cx="304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Actualización 2023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C0B54F-031D-CB60-2E4B-50427C40DB05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0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9B87B-8CDC-4BB2-460A-67E71BF7B4D9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Proveedores especializados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167043" y="2436705"/>
            <a:ext cx="1157929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2400" b="0" i="0" u="none" strike="noStrike" baseline="0" dirty="0">
                <a:solidFill>
                  <a:srgbClr val="008BB0"/>
                </a:solidFill>
                <a:latin typeface="Calibri (Body)"/>
              </a:rPr>
              <a:t>Para uso de proveedores que brinden servicios especializados, el usuario y comprador deberán apegarse además a la </a:t>
            </a:r>
            <a:r>
              <a:rPr lang="es-ES" sz="2400" b="1" i="0" u="none" strike="noStrike" baseline="0" dirty="0">
                <a:solidFill>
                  <a:srgbClr val="008BB0"/>
                </a:solidFill>
                <a:latin typeface="Calibri (Body)"/>
              </a:rPr>
              <a:t>política de Proveedores de Servicios Especializados.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s-ES" i="1" dirty="0">
                <a:solidFill>
                  <a:srgbClr val="008BB0"/>
                </a:solidFill>
                <a:latin typeface="Calibri (Body)"/>
              </a:rPr>
              <a:t>Todo aquel servicio que implique la entrada de personal del proveedor a laborar dentro de nuestras instalaciones</a:t>
            </a:r>
            <a:endParaRPr lang="es-ES" i="1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s-ES" sz="2400" b="0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2400" b="0" i="0" u="none" strike="noStrike" baseline="0" dirty="0">
                <a:solidFill>
                  <a:srgbClr val="008BB0"/>
                </a:solidFill>
                <a:latin typeface="Calibri (Body)"/>
              </a:rPr>
              <a:t>Las negociaciones por servicios especializados se deberán llevar a cabo en conjunto con la Gerencia Corporativa de Compras, debiendo estar bajo un </a:t>
            </a:r>
            <a:r>
              <a:rPr lang="es-ES" sz="2400" b="1" i="0" u="none" strike="noStrike" baseline="0" dirty="0">
                <a:solidFill>
                  <a:srgbClr val="008BB0"/>
                </a:solidFill>
                <a:latin typeface="Calibri (Body)"/>
              </a:rPr>
              <a:t>contrato generado por el área Legal especificando la no responsabilidad laboral por parte de </a:t>
            </a:r>
            <a:r>
              <a:rPr lang="es-ES" sz="2400" b="1" dirty="0">
                <a:solidFill>
                  <a:srgbClr val="008BB0"/>
                </a:solidFill>
                <a:latin typeface="Calibri (Body)"/>
              </a:rPr>
              <a:t>M</a:t>
            </a:r>
            <a:r>
              <a:rPr lang="es-ES" sz="2400" b="1" i="0" u="none" strike="noStrike" baseline="0" dirty="0">
                <a:solidFill>
                  <a:srgbClr val="008BB0"/>
                </a:solidFill>
                <a:latin typeface="Calibri (Body)"/>
              </a:rPr>
              <a:t>abe.</a:t>
            </a:r>
          </a:p>
          <a:p>
            <a:pPr algn="just"/>
            <a:endParaRPr lang="es-MX" sz="2400" b="1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MX" sz="2400" b="1" i="0" u="none" strike="noStrike" baseline="0" dirty="0">
                <a:solidFill>
                  <a:srgbClr val="008BB0"/>
                </a:solidFill>
                <a:highlight>
                  <a:srgbClr val="FFFF00"/>
                </a:highlight>
                <a:latin typeface="Calibri (Body)"/>
              </a:rPr>
              <a:t>Ejemplos: Transporte, servicio de limpieza, servicio de vigilancia, etc.</a:t>
            </a:r>
            <a:endParaRPr lang="en-US" sz="2400" b="1" i="0" u="none" strike="noStrike" baseline="0" dirty="0">
              <a:solidFill>
                <a:srgbClr val="008BB0"/>
              </a:solidFill>
              <a:highlight>
                <a:srgbClr val="FFFF00"/>
              </a:highlight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2400" b="0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algn="l"/>
            <a:endParaRPr lang="es-MX" sz="2400" dirty="0">
              <a:solidFill>
                <a:srgbClr val="008BB0"/>
              </a:solidFill>
              <a:latin typeface="Calibri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B563D-FA53-A14E-B2E0-F4857FB58383}"/>
              </a:ext>
            </a:extLst>
          </p:cNvPr>
          <p:cNvSpPr txBox="1"/>
          <p:nvPr/>
        </p:nvSpPr>
        <p:spPr>
          <a:xfrm>
            <a:off x="233264" y="558800"/>
            <a:ext cx="304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Actualización 2023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BFBDB-6C84-9E97-CD20-3B0F8E65A2CF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8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242596" y="1990117"/>
            <a:ext cx="1157929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"/>
            </a:pPr>
            <a:r>
              <a:rPr lang="es-MX" sz="1400" dirty="0">
                <a:solidFill>
                  <a:srgbClr val="008BB0"/>
                </a:solidFill>
                <a:latin typeface="Calibri (Body)"/>
              </a:rPr>
              <a:t>Toda </a:t>
            </a:r>
            <a:r>
              <a:rPr lang="es-MX" sz="1400" b="1" dirty="0">
                <a:solidFill>
                  <a:srgbClr val="008BB0"/>
                </a:solidFill>
                <a:latin typeface="Calibri (Body)"/>
              </a:rPr>
              <a:t>compra de algún articulo de TI </a:t>
            </a:r>
            <a:r>
              <a:rPr lang="es-MX" sz="1400" dirty="0">
                <a:solidFill>
                  <a:srgbClr val="008BB0"/>
                </a:solidFill>
                <a:latin typeface="Calibri (Body)"/>
              </a:rPr>
              <a:t>que </a:t>
            </a:r>
            <a:r>
              <a:rPr lang="es-MX" sz="1400" b="1" dirty="0">
                <a:solidFill>
                  <a:srgbClr val="008BB0"/>
                </a:solidFill>
                <a:latin typeface="Calibri (Body)"/>
              </a:rPr>
              <a:t>NO</a:t>
            </a:r>
            <a:r>
              <a:rPr lang="es-MX" sz="1400" dirty="0">
                <a:solidFill>
                  <a:srgbClr val="008BB0"/>
                </a:solidFill>
                <a:latin typeface="Calibri (Body)"/>
              </a:rPr>
              <a:t> vaya a ser ocupado para un tema de promoción/promocional (</a:t>
            </a:r>
            <a:r>
              <a:rPr lang="es-MX" sz="1400" dirty="0" err="1">
                <a:solidFill>
                  <a:srgbClr val="008BB0"/>
                </a:solidFill>
                <a:latin typeface="Calibri (Body)"/>
              </a:rPr>
              <a:t>usb</a:t>
            </a:r>
            <a:r>
              <a:rPr lang="es-MX" sz="1400" dirty="0">
                <a:solidFill>
                  <a:srgbClr val="008BB0"/>
                </a:solidFill>
                <a:latin typeface="Calibri (Body)"/>
              </a:rPr>
              <a:t>, bocinas, pantallas, etc.), tiene que pasar directamente por TI. </a:t>
            </a:r>
            <a:r>
              <a:rPr lang="es-MX" sz="1400" dirty="0">
                <a:solidFill>
                  <a:srgbClr val="008BB0"/>
                </a:solidFill>
              </a:rPr>
              <a:t>Si </a:t>
            </a:r>
            <a:r>
              <a:rPr lang="es-MX" sz="1400" b="1" dirty="0">
                <a:solidFill>
                  <a:srgbClr val="008BB0"/>
                </a:solidFill>
              </a:rPr>
              <a:t>TI da el Vo. Bo (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Gerencia de Infraestructura Corporativa )</a:t>
            </a:r>
            <a:r>
              <a:rPr lang="es-MX" sz="1400" b="1" dirty="0">
                <a:solidFill>
                  <a:srgbClr val="008BB0"/>
                </a:solidFill>
              </a:rPr>
              <a:t>.</a:t>
            </a:r>
            <a:r>
              <a:rPr lang="es-MX" sz="1400" dirty="0">
                <a:solidFill>
                  <a:srgbClr val="008BB0"/>
                </a:solidFill>
              </a:rPr>
              <a:t>, de que la compra sea por medio del equipo de compras indirectas, es necesario un </a:t>
            </a:r>
            <a:r>
              <a:rPr lang="es-MX" sz="1400" b="1" dirty="0">
                <a:solidFill>
                  <a:srgbClr val="008BB0"/>
                </a:solidFill>
              </a:rPr>
              <a:t>correo confirmado esta información </a:t>
            </a:r>
            <a:r>
              <a:rPr lang="es-MX" sz="1400" dirty="0">
                <a:solidFill>
                  <a:srgbClr val="008BB0"/>
                </a:solidFill>
              </a:rPr>
              <a:t>(mismo que se sube en la OC como respaldo).</a:t>
            </a:r>
          </a:p>
          <a:p>
            <a:pPr marL="342900" indent="-342900" algn="just">
              <a:buFont typeface="Wingdings" panose="05000000000000000000" pitchFamily="2" charset="2"/>
              <a:buChar char=""/>
            </a:pPr>
            <a:endParaRPr lang="es-MX" sz="1400" dirty="0">
              <a:solidFill>
                <a:srgbClr val="008BB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Cuando existan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fallas de infraestructura tecnológica 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deben ser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autorizadas por la Gerencia de </a:t>
            </a:r>
            <a:r>
              <a:rPr lang="en-US" sz="1400" b="1" i="0" u="none" strike="noStrike" baseline="0" dirty="0" err="1">
                <a:solidFill>
                  <a:srgbClr val="008BB0"/>
                </a:solidFill>
                <a:latin typeface="Calibri (Body)"/>
              </a:rPr>
              <a:t>Infraestructura</a:t>
            </a:r>
            <a:r>
              <a:rPr lang="en-US" sz="1400" b="1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n-US" sz="1400" b="1" i="0" u="none" strike="noStrike" baseline="0" dirty="0" err="1">
                <a:solidFill>
                  <a:srgbClr val="008BB0"/>
                </a:solidFill>
                <a:latin typeface="Calibri (Body)"/>
              </a:rPr>
              <a:t>Corporativa</a:t>
            </a:r>
            <a:r>
              <a:rPr lang="en-US" sz="1400" b="1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n-US" sz="1400" b="0" i="0" u="none" strike="noStrike" baseline="0" dirty="0">
                <a:solidFill>
                  <a:srgbClr val="008BB0"/>
                </a:solidFill>
                <a:latin typeface="Calibri (Body)"/>
              </a:rPr>
              <a:t>a </a:t>
            </a:r>
            <a:r>
              <a:rPr lang="en-US" sz="1400" b="0" i="0" u="none" strike="noStrike" baseline="0" dirty="0" err="1">
                <a:solidFill>
                  <a:srgbClr val="008BB0"/>
                </a:solidFill>
                <a:latin typeface="Calibri (Body)"/>
              </a:rPr>
              <a:t>partir</a:t>
            </a:r>
            <a:r>
              <a:rPr lang="en-US" sz="1400" b="0" i="0" u="none" strike="noStrike" baseline="0" dirty="0">
                <a:solidFill>
                  <a:srgbClr val="008BB0"/>
                </a:solidFill>
                <a:latin typeface="Calibri (Body)"/>
              </a:rPr>
              <a:t> de </a:t>
            </a:r>
            <a:r>
              <a:rPr lang="en-US" sz="1400" b="1" i="0" u="none" strike="noStrike" baseline="0" dirty="0">
                <a:solidFill>
                  <a:srgbClr val="008BB0"/>
                </a:solidFill>
                <a:latin typeface="Calibri (Body)"/>
              </a:rPr>
              <a:t>10,000 USD.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sz="1400" b="0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Las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compras de equipo de tecnología,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 así como desarrollos internos de TI serán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revisadas y negociadas por el área de Tecnología de la Información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, quien podrá solicitar el apoyo del Área de Compras para realizar una mejor negociación en caso de ser conveniente.</a:t>
            </a:r>
          </a:p>
          <a:p>
            <a:pPr algn="just"/>
            <a:endParaRPr lang="es-MX" sz="1400" dirty="0">
              <a:solidFill>
                <a:srgbClr val="008BB0"/>
              </a:solidFill>
              <a:latin typeface="Calibri (Body)"/>
            </a:endParaRPr>
          </a:p>
          <a:p>
            <a:pPr algn="just"/>
            <a:endParaRPr lang="es-MX" sz="1400" dirty="0">
              <a:solidFill>
                <a:srgbClr val="008BB0"/>
              </a:solidFill>
              <a:latin typeface="Calibri (Body)"/>
            </a:endParaRPr>
          </a:p>
          <a:p>
            <a:pPr algn="just"/>
            <a:r>
              <a:rPr lang="es-MX" sz="1400" dirty="0">
                <a:solidFill>
                  <a:srgbClr val="008BB0"/>
                </a:solidFill>
                <a:latin typeface="Calibri (Body)"/>
              </a:rPr>
              <a:t>}</a:t>
            </a:r>
          </a:p>
          <a:p>
            <a:pPr algn="just"/>
            <a:endParaRPr lang="es-MX" sz="1400" dirty="0">
              <a:solidFill>
                <a:srgbClr val="008BB0"/>
              </a:solidFill>
              <a:latin typeface="Calibri (Body)"/>
            </a:endParaRPr>
          </a:p>
          <a:p>
            <a:pPr algn="just"/>
            <a:endParaRPr lang="es-MX" sz="140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Las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negociaciones, acuerdos 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generados y selección de proveedores deben hacerse en conjunto entre las áreas de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Tecnología de la Información y COE, 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asegurando que se tuvo una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evaluación previa 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para definir al proveedor elegido. En todo momento se podrá solicitar el apoyo del área de Compras para</a:t>
            </a:r>
          </a:p>
          <a:p>
            <a:pPr algn="l"/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       realizar una mejor negociación en caso de ser conveniente.</a:t>
            </a:r>
          </a:p>
          <a:p>
            <a:pPr algn="l"/>
            <a:endParaRPr lang="es-ES" sz="1400" b="0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Durante </a:t>
            </a: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los proyectos debe existir un Comité Directivo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, conformado por la Dirección de TI, la Dirección del COE y el o los Directores Asociado(s) al proyecto implementado. Este Comité apoyará en la selección del Proveedor de acuerdo con la evaluación generada por el Líder del proyecto, el Gerente COE y el Gerente TI responsables.</a:t>
            </a:r>
            <a:endParaRPr lang="es-MX" sz="1400" dirty="0">
              <a:solidFill>
                <a:srgbClr val="008BB0"/>
              </a:solidFill>
              <a:latin typeface="Calibri (Body)"/>
            </a:endParaRPr>
          </a:p>
          <a:p>
            <a:pPr algn="just"/>
            <a:endParaRPr lang="es-MX" sz="1400" dirty="0">
              <a:solidFill>
                <a:srgbClr val="008BB0"/>
              </a:solidFill>
              <a:latin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E479B-B5D1-9C1B-3A57-851C4D8D477F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Compras TI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C5238-34A2-46C9-5EA5-6BB98BF06FF3}"/>
              </a:ext>
            </a:extLst>
          </p:cNvPr>
          <p:cNvSpPr txBox="1"/>
          <p:nvPr/>
        </p:nvSpPr>
        <p:spPr>
          <a:xfrm>
            <a:off x="-46653" y="1186506"/>
            <a:ext cx="4357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Compras software y hardware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2BA60-445B-03E1-FE70-F6D564759701}"/>
              </a:ext>
            </a:extLst>
          </p:cNvPr>
          <p:cNvSpPr/>
          <p:nvPr/>
        </p:nvSpPr>
        <p:spPr>
          <a:xfrm>
            <a:off x="0" y="4021494"/>
            <a:ext cx="4469364" cy="485192"/>
          </a:xfrm>
          <a:prstGeom prst="rect">
            <a:avLst/>
          </a:prstGeom>
          <a:gradFill flip="none" rotWithShape="1">
            <a:gsLst>
              <a:gs pos="0">
                <a:srgbClr val="008BB0">
                  <a:shade val="30000"/>
                  <a:satMod val="115000"/>
                </a:srgbClr>
              </a:gs>
              <a:gs pos="50000">
                <a:srgbClr val="008BB0">
                  <a:shade val="67500"/>
                  <a:satMod val="115000"/>
                </a:srgbClr>
              </a:gs>
              <a:gs pos="100000">
                <a:srgbClr val="008BB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008BB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i="0" u="none" strike="noStrike" baseline="0" dirty="0">
                <a:latin typeface="Calibri-Light"/>
              </a:rPr>
              <a:t>SERVICIOS Y CONSULTORÍA EN PROYECTOS DE TECNOLOGÍA DE LA INFORMACIÓN / COE</a:t>
            </a:r>
            <a:endParaRPr lang="es-MX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56C291-FBE3-591F-C5B9-3F87C52C9482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12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9B87B-8CDC-4BB2-460A-67E71BF7B4D9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Contratos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233265" y="1990117"/>
            <a:ext cx="11579291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1400" b="1" i="0" u="none" strike="noStrike" baseline="0" dirty="0">
                <a:solidFill>
                  <a:srgbClr val="008BB0"/>
                </a:solidFill>
                <a:latin typeface="Calibri (Body)"/>
              </a:rPr>
              <a:t>Las compras que superen $250,000 USD 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por Proveedor, serán evaluadas por el equipo de Compras Indirectas Corporativo para definir si estas requieren un contrato o un acuerdo comercial.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s-ES" sz="1400" dirty="0">
              <a:solidFill>
                <a:srgbClr val="008BB0"/>
              </a:solidFill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Una vez cerrada la negociación con el proveedor será el usuario interesado quien deba acercarse con Jurídico para darle seguimiento a la formalización del contrato, considerando que no podrá generar una orden de compra hasta tener el contrato liberado.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s-MX" sz="1400" b="1" dirty="0">
              <a:solidFill>
                <a:srgbClr val="008BB0"/>
              </a:solidFill>
              <a:latin typeface="Calibri (Body)"/>
            </a:endParaRP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Todos los contratos deberán ser autorizados por el Área Legal.</a:t>
            </a:r>
          </a:p>
          <a:p>
            <a:pPr marL="342900" lvl="0" indent="-342900" algn="just">
              <a:buFont typeface="Wingdings" panose="05000000000000000000" pitchFamily="2" charset="2"/>
              <a:buChar char=""/>
            </a:pPr>
            <a:endParaRPr lang="es-ES" sz="1400" dirty="0">
              <a:solidFill>
                <a:srgbClr val="008BB0"/>
              </a:solidFill>
              <a:latin typeface="Calibri (Body)"/>
            </a:endParaRPr>
          </a:p>
          <a:p>
            <a:pPr algn="l"/>
            <a:r>
              <a:rPr lang="es-ES" b="1" i="0" u="none" strike="noStrike" baseline="0" dirty="0">
                <a:solidFill>
                  <a:srgbClr val="008BB0"/>
                </a:solidFill>
                <a:highlight>
                  <a:srgbClr val="FFFF00"/>
                </a:highlight>
                <a:latin typeface="Calibri (Body)"/>
              </a:rPr>
              <a:t> Los servicios que requieren contrato sin excepción son</a:t>
            </a:r>
            <a:r>
              <a:rPr lang="es-ES" b="1" i="0" u="none" strike="noStrike" baseline="0" dirty="0">
                <a:solidFill>
                  <a:srgbClr val="008BB0"/>
                </a:solidFill>
                <a:latin typeface="Calibri (Body)"/>
              </a:rPr>
              <a:t>:</a:t>
            </a:r>
          </a:p>
          <a:p>
            <a:pPr algn="l"/>
            <a:endParaRPr lang="es-ES" sz="1400" b="0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algn="l"/>
            <a:r>
              <a:rPr lang="en-US" sz="1400" b="0" i="0" u="none" strike="noStrike" baseline="0" dirty="0">
                <a:solidFill>
                  <a:srgbClr val="008BB0"/>
                </a:solidFill>
                <a:latin typeface="Calibri (Body)"/>
              </a:rPr>
              <a:t>• 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Proveedores Especializados.                                                                                         </a:t>
            </a:r>
          </a:p>
          <a:p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• Recolección de Scrap.				</a:t>
            </a:r>
            <a:r>
              <a:rPr lang="es-ES" i="0" u="none" strike="noStrike" baseline="0" dirty="0">
                <a:solidFill>
                  <a:srgbClr val="008BB0"/>
                </a:solidFill>
                <a:latin typeface="Calibri (Body)"/>
              </a:rPr>
              <a:t>•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s-ES" i="0" u="none" strike="noStrike" baseline="0" dirty="0">
                <a:solidFill>
                  <a:srgbClr val="008BB0"/>
                </a:solidFill>
                <a:latin typeface="Calibri (Body)"/>
              </a:rPr>
              <a:t>Agencias de investigación de mercados.</a:t>
            </a:r>
            <a:endParaRPr lang="en-US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•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Rentas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de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bienes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inmuebles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.			</a:t>
            </a:r>
            <a:r>
              <a:rPr lang="es-ES" i="0" u="none" strike="noStrike" baseline="0" dirty="0">
                <a:solidFill>
                  <a:srgbClr val="008BB0"/>
                </a:solidFill>
                <a:latin typeface="Calibri (Body)"/>
              </a:rPr>
              <a:t>• Servicios de TI en la nube.</a:t>
            </a:r>
            <a:endParaRPr lang="en-US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• Servicios de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seguridad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,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limpieza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,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comedores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.		</a:t>
            </a:r>
            <a:r>
              <a:rPr lang="es-ES" i="0" u="none" strike="noStrike" baseline="0" dirty="0">
                <a:solidFill>
                  <a:srgbClr val="008BB0"/>
                </a:solidFill>
                <a:latin typeface="Calibri (Body)"/>
              </a:rPr>
              <a:t>• Servicios de TI y comunicación.</a:t>
            </a:r>
            <a:endParaRPr lang="en-US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•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Sistemas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periféricos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(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satelitales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).			• Renta de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Montacargas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.</a:t>
            </a:r>
          </a:p>
          <a:p>
            <a:pPr algn="l"/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• Transporte de personal.				•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Implementación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de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Sistemas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de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tecnologia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de la información.</a:t>
            </a:r>
          </a:p>
          <a:p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•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Agencias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 de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medios</a:t>
            </a:r>
            <a:r>
              <a:rPr lang="en-US" i="0" u="none" strike="noStrike" baseline="0" dirty="0">
                <a:solidFill>
                  <a:srgbClr val="008BB0"/>
                </a:solidFill>
                <a:latin typeface="Calibri (Body)"/>
              </a:rPr>
              <a:t>.				• Servicios de </a:t>
            </a:r>
            <a:r>
              <a:rPr lang="en-US" i="0" u="none" strike="noStrike" baseline="0" dirty="0" err="1">
                <a:solidFill>
                  <a:srgbClr val="008BB0"/>
                </a:solidFill>
                <a:latin typeface="Calibri (Body)"/>
              </a:rPr>
              <a:t>Consultoría</a:t>
            </a:r>
            <a:endParaRPr lang="en-US" i="0" u="none" strike="noStrike" baseline="0" dirty="0">
              <a:solidFill>
                <a:srgbClr val="008BB0"/>
              </a:solidFill>
              <a:latin typeface="Calibri (Body)"/>
            </a:endParaRPr>
          </a:p>
          <a:p>
            <a:pPr algn="l"/>
            <a:endParaRPr lang="en-US" dirty="0">
              <a:solidFill>
                <a:srgbClr val="008BB0"/>
              </a:solidFill>
              <a:latin typeface="Calibri (Body)"/>
            </a:endParaRPr>
          </a:p>
          <a:p>
            <a:pPr algn="l"/>
            <a:r>
              <a:rPr lang="es-ES" sz="1400" dirty="0">
                <a:solidFill>
                  <a:srgbClr val="008BB0"/>
                </a:solidFill>
                <a:latin typeface="Calibri (Body)"/>
              </a:rPr>
              <a:t>*</a:t>
            </a:r>
            <a:r>
              <a:rPr lang="es-ES" sz="1400" b="0" i="0" u="none" strike="noStrike" baseline="0" dirty="0">
                <a:solidFill>
                  <a:srgbClr val="008BB0"/>
                </a:solidFill>
                <a:latin typeface="Calibri (Body)"/>
              </a:rPr>
              <a:t>Las licencias de Software serán evaluadas por Infraestructura Corporativa quienes definirán la </a:t>
            </a:r>
            <a:r>
              <a:rPr lang="en-US" sz="1400" b="0" i="0" u="none" strike="noStrike" baseline="0" dirty="0" err="1">
                <a:solidFill>
                  <a:srgbClr val="008BB0"/>
                </a:solidFill>
                <a:latin typeface="Calibri (Body)"/>
              </a:rPr>
              <a:t>necesidad</a:t>
            </a:r>
            <a:r>
              <a:rPr lang="en-US" sz="1400" b="0" i="0" u="none" strike="noStrike" baseline="0" dirty="0">
                <a:solidFill>
                  <a:srgbClr val="008BB0"/>
                </a:solidFill>
                <a:latin typeface="Calibri (Body)"/>
              </a:rPr>
              <a:t> de un </a:t>
            </a:r>
            <a:r>
              <a:rPr lang="en-US" sz="1400" b="0" i="0" u="none" strike="noStrike" baseline="0" dirty="0" err="1">
                <a:solidFill>
                  <a:srgbClr val="008BB0"/>
                </a:solidFill>
                <a:latin typeface="Calibri (Body)"/>
              </a:rPr>
              <a:t>contrato</a:t>
            </a:r>
            <a:r>
              <a:rPr lang="en-US" sz="1400" b="0" i="0" u="none" strike="noStrike" baseline="0" dirty="0">
                <a:solidFill>
                  <a:srgbClr val="008BB0"/>
                </a:solidFill>
                <a:latin typeface="Calibri (Body)"/>
              </a:rPr>
              <a:t>.</a:t>
            </a:r>
            <a:endParaRPr lang="es-MX" sz="1400" dirty="0">
              <a:solidFill>
                <a:srgbClr val="008BB0"/>
              </a:solidFill>
              <a:latin typeface="Calibri Light" panose="020F0302020204030204" pitchFamily="34" charset="0"/>
            </a:endParaRPr>
          </a:p>
          <a:p>
            <a:pPr lvl="0" algn="just"/>
            <a:endParaRPr lang="es-MX" sz="1400" dirty="0">
              <a:solidFill>
                <a:srgbClr val="008BB0"/>
              </a:solidFill>
              <a:latin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E479B-B5D1-9C1B-3A57-851C4D8D477F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4E2B7-6D4D-7A1F-756A-A2CAB8CE39EF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8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9B87B-8CDC-4BB2-460A-67E71BF7B4D9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Sistema cerrado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114684" y="2390494"/>
            <a:ext cx="115792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0" hangingPunct="0">
              <a:buFont typeface="Wingdings" panose="05000000000000000000" pitchFamily="2" charset="2"/>
              <a:buChar char="ü"/>
            </a:pPr>
            <a:r>
              <a:rPr lang="es-MX" sz="2400" dirty="0">
                <a:solidFill>
                  <a:srgbClr val="008BB0"/>
                </a:solidFill>
                <a:highlight>
                  <a:srgbClr val="FFFF00"/>
                </a:highlight>
              </a:rPr>
              <a:t>Para la </a:t>
            </a:r>
            <a:r>
              <a:rPr lang="es-MX" sz="2400" b="1" dirty="0">
                <a:solidFill>
                  <a:srgbClr val="008BB0"/>
                </a:solidFill>
                <a:highlight>
                  <a:srgbClr val="FFFF00"/>
                </a:highlight>
              </a:rPr>
              <a:t>solicitud del pedido durante los fines de semana o periodo de cierre, será posible autorizarlo vía correo</a:t>
            </a:r>
            <a:r>
              <a:rPr lang="es-MX" sz="2400" dirty="0">
                <a:solidFill>
                  <a:srgbClr val="008BB0"/>
                </a:solidFill>
                <a:highlight>
                  <a:srgbClr val="FFFF00"/>
                </a:highlight>
              </a:rPr>
              <a:t> por parte del gerente corporativo de compras y el gerente del área solicitante, comprometiéndose a generar la SP en cuanto se abra sistema.</a:t>
            </a:r>
          </a:p>
          <a:p>
            <a:pPr marL="285750" indent="-285750" algn="just" eaLnBrk="0" hangingPunct="0">
              <a:buFont typeface="Wingdings" panose="05000000000000000000" pitchFamily="2" charset="2"/>
              <a:buChar char="ü"/>
            </a:pPr>
            <a:endParaRPr lang="es-MX" sz="2400" dirty="0">
              <a:solidFill>
                <a:srgbClr val="008BB0"/>
              </a:solidFill>
            </a:endParaRPr>
          </a:p>
          <a:p>
            <a:pPr marL="342900" indent="-342900" algn="just" eaLnBrk="0" hangingPunct="0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rgbClr val="008BB0"/>
                </a:solidFill>
              </a:rPr>
              <a:t>Cualquier excepción o petición especial deberá ser evaluada por el Gerente de Compras de cada operación</a:t>
            </a:r>
            <a:r>
              <a:rPr lang="es-MX" sz="2400" dirty="0">
                <a:solidFill>
                  <a:srgbClr val="008BB0"/>
                </a:solidFill>
              </a:rPr>
              <a:t> y éste según sea el caso evaluará la necesidad de autorización del gerente general o director, gerente financiero y/o VP del área por medio de un correo.</a:t>
            </a:r>
          </a:p>
          <a:p>
            <a:pPr marL="342900" indent="-342900" algn="just" eaLnBrk="0" hangingPunct="0">
              <a:buFont typeface="Wingdings" panose="05000000000000000000" pitchFamily="2" charset="2"/>
              <a:buChar char="ü"/>
            </a:pPr>
            <a:endParaRPr lang="es-MX" sz="2400" dirty="0">
              <a:solidFill>
                <a:srgbClr val="008BB0"/>
              </a:solidFill>
            </a:endParaRPr>
          </a:p>
          <a:p>
            <a:pPr marL="342900" indent="-342900" algn="just" eaLnBrk="0" hangingPunct="0">
              <a:buFont typeface="Wingdings" panose="05000000000000000000" pitchFamily="2" charset="2"/>
              <a:buChar char="ü"/>
            </a:pPr>
            <a:r>
              <a:rPr lang="es-MX" sz="2400" dirty="0">
                <a:solidFill>
                  <a:srgbClr val="008BB0"/>
                </a:solidFill>
              </a:rPr>
              <a:t>En Ambos casos se subirán los correos de respaldo al sistema al momento de la generacion de la OC.</a:t>
            </a:r>
            <a:endParaRPr lang="es-MX" sz="2400" dirty="0">
              <a:solidFill>
                <a:srgbClr val="008BB0"/>
              </a:solidFill>
              <a:latin typeface="Calibri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B563D-FA53-A14E-B2E0-F4857FB58383}"/>
              </a:ext>
            </a:extLst>
          </p:cNvPr>
          <p:cNvSpPr txBox="1"/>
          <p:nvPr/>
        </p:nvSpPr>
        <p:spPr>
          <a:xfrm>
            <a:off x="233264" y="558800"/>
            <a:ext cx="304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Actualización 2023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0616EC-FD66-73D9-8167-2BCDDF3F409E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9B87B-8CDC-4BB2-460A-67E71BF7B4D9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“IMPORTANTE”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12298-B624-E070-3461-48F81F252E7A}"/>
              </a:ext>
            </a:extLst>
          </p:cNvPr>
          <p:cNvSpPr txBox="1"/>
          <p:nvPr/>
        </p:nvSpPr>
        <p:spPr>
          <a:xfrm>
            <a:off x="0" y="1848075"/>
            <a:ext cx="115792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</a:rPr>
              <a:t>La </a:t>
            </a:r>
            <a:r>
              <a:rPr lang="es-MX" sz="1600" b="1" dirty="0">
                <a:solidFill>
                  <a:srgbClr val="008BB0"/>
                </a:solidFill>
              </a:rPr>
              <a:t>vigencia</a:t>
            </a:r>
            <a:r>
              <a:rPr lang="es-MX" sz="1600" dirty="0">
                <a:solidFill>
                  <a:srgbClr val="008BB0"/>
                </a:solidFill>
              </a:rPr>
              <a:t> de las órdenes de compra es de </a:t>
            </a:r>
            <a:r>
              <a:rPr lang="es-MX" sz="1600" b="1" dirty="0">
                <a:solidFill>
                  <a:srgbClr val="008BB0"/>
                </a:solidFill>
              </a:rPr>
              <a:t>30 días</a:t>
            </a:r>
            <a:r>
              <a:rPr lang="es-MX" sz="1600" dirty="0">
                <a:solidFill>
                  <a:srgbClr val="008BB0"/>
                </a:solidFill>
              </a:rPr>
              <a:t>.</a:t>
            </a:r>
          </a:p>
          <a:p>
            <a:endParaRPr lang="es-MX" sz="1600" dirty="0">
              <a:solidFill>
                <a:srgbClr val="008BB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</a:rPr>
              <a:t>Las </a:t>
            </a:r>
            <a:r>
              <a:rPr lang="es-MX" sz="1600" b="1" dirty="0">
                <a:solidFill>
                  <a:srgbClr val="008BB0"/>
                </a:solidFill>
              </a:rPr>
              <a:t>cotizaciones</a:t>
            </a:r>
            <a:r>
              <a:rPr lang="es-MX" sz="1600" dirty="0">
                <a:solidFill>
                  <a:srgbClr val="008BB0"/>
                </a:solidFill>
              </a:rPr>
              <a:t> deben estar </a:t>
            </a:r>
            <a:r>
              <a:rPr lang="es-MX" sz="1600" b="1" dirty="0">
                <a:solidFill>
                  <a:srgbClr val="008BB0"/>
                </a:solidFill>
              </a:rPr>
              <a:t>vigentes</a:t>
            </a:r>
            <a:r>
              <a:rPr lang="es-MX" sz="1600" dirty="0">
                <a:solidFill>
                  <a:srgbClr val="008BB0"/>
                </a:solidFill>
              </a:rPr>
              <a:t> y en </a:t>
            </a:r>
            <a:r>
              <a:rPr lang="es-MX" sz="1600" b="1" dirty="0">
                <a:solidFill>
                  <a:srgbClr val="008BB0"/>
                </a:solidFill>
              </a:rPr>
              <a:t>PDF</a:t>
            </a:r>
            <a:r>
              <a:rPr lang="es-MX" sz="1600" dirty="0">
                <a:solidFill>
                  <a:srgbClr val="008BB0"/>
                </a:solidFill>
              </a:rPr>
              <a:t>, cada proveedor marca el tiempo de vigencia en la misma. </a:t>
            </a:r>
            <a:r>
              <a:rPr lang="es-MX" sz="1600" b="1" dirty="0">
                <a:solidFill>
                  <a:srgbClr val="008BB0"/>
                </a:solidFill>
              </a:rPr>
              <a:t>Si no está vigente no podrá ser liberada la OC.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sz="1600" dirty="0">
              <a:solidFill>
                <a:srgbClr val="008BB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</a:rPr>
              <a:t>Queda estrictamente </a:t>
            </a:r>
            <a:r>
              <a:rPr lang="es-MX" sz="1600" b="1" dirty="0">
                <a:solidFill>
                  <a:srgbClr val="008BB0"/>
                </a:solidFill>
              </a:rPr>
              <a:t>prohibido cerrar órdenes de compra de materiales o servicios no recibidos</a:t>
            </a:r>
            <a:r>
              <a:rPr lang="es-MX" sz="1600" dirty="0">
                <a:solidFill>
                  <a:srgbClr val="008BB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sz="1600" dirty="0">
              <a:solidFill>
                <a:srgbClr val="008BB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</a:rPr>
              <a:t>Toda </a:t>
            </a:r>
            <a:r>
              <a:rPr lang="es-MX" sz="1600" b="1" dirty="0">
                <a:solidFill>
                  <a:srgbClr val="008BB0"/>
                </a:solidFill>
              </a:rPr>
              <a:t>cotizacion</a:t>
            </a:r>
            <a:r>
              <a:rPr lang="es-MX" sz="1600" dirty="0">
                <a:solidFill>
                  <a:srgbClr val="008BB0"/>
                </a:solidFill>
              </a:rPr>
              <a:t> y </a:t>
            </a:r>
            <a:r>
              <a:rPr lang="es-MX" sz="1600" b="1" dirty="0">
                <a:solidFill>
                  <a:srgbClr val="008BB0"/>
                </a:solidFill>
              </a:rPr>
              <a:t>OC</a:t>
            </a:r>
            <a:r>
              <a:rPr lang="es-MX" sz="1600" dirty="0">
                <a:solidFill>
                  <a:srgbClr val="008BB0"/>
                </a:solidFill>
              </a:rPr>
              <a:t> deben de realizarse con </a:t>
            </a:r>
            <a:r>
              <a:rPr lang="es-MX" sz="1600" b="1" dirty="0">
                <a:solidFill>
                  <a:srgbClr val="008BB0"/>
                </a:solidFill>
              </a:rPr>
              <a:t>proveedores</a:t>
            </a:r>
            <a:r>
              <a:rPr lang="es-MX" sz="1600" dirty="0">
                <a:solidFill>
                  <a:srgbClr val="008BB0"/>
                </a:solidFill>
              </a:rPr>
              <a:t> que estén </a:t>
            </a:r>
            <a:r>
              <a:rPr lang="es-MX" sz="1600" b="1" dirty="0">
                <a:solidFill>
                  <a:srgbClr val="008BB0"/>
                </a:solidFill>
              </a:rPr>
              <a:t>dentro de su Commodity</a:t>
            </a:r>
            <a:r>
              <a:rPr lang="es-MX" sz="1600" dirty="0">
                <a:solidFill>
                  <a:srgbClr val="008BB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sz="1600" dirty="0">
              <a:solidFill>
                <a:srgbClr val="008BB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</a:rPr>
              <a:t>Todas las </a:t>
            </a:r>
            <a:r>
              <a:rPr lang="es-MX" sz="1600" b="1" dirty="0">
                <a:solidFill>
                  <a:srgbClr val="008BB0"/>
                </a:solidFill>
              </a:rPr>
              <a:t>cotizaciones</a:t>
            </a:r>
            <a:r>
              <a:rPr lang="es-MX" sz="1600" dirty="0">
                <a:solidFill>
                  <a:srgbClr val="008BB0"/>
                </a:solidFill>
              </a:rPr>
              <a:t>, </a:t>
            </a:r>
            <a:r>
              <a:rPr lang="es-MX" sz="1600" b="1" dirty="0">
                <a:solidFill>
                  <a:srgbClr val="008BB0"/>
                </a:solidFill>
              </a:rPr>
              <a:t>convenios</a:t>
            </a:r>
            <a:r>
              <a:rPr lang="es-MX" sz="1600" dirty="0">
                <a:solidFill>
                  <a:srgbClr val="008BB0"/>
                </a:solidFill>
              </a:rPr>
              <a:t>, </a:t>
            </a:r>
            <a:r>
              <a:rPr lang="es-MX" sz="1600" b="1" dirty="0">
                <a:solidFill>
                  <a:srgbClr val="008BB0"/>
                </a:solidFill>
              </a:rPr>
              <a:t># de contrato </a:t>
            </a:r>
            <a:r>
              <a:rPr lang="es-MX" sz="1600" dirty="0">
                <a:solidFill>
                  <a:srgbClr val="008BB0"/>
                </a:solidFill>
              </a:rPr>
              <a:t>y </a:t>
            </a:r>
            <a:r>
              <a:rPr lang="es-MX" sz="1600" b="1" dirty="0">
                <a:solidFill>
                  <a:srgbClr val="008BB0"/>
                </a:solidFill>
              </a:rPr>
              <a:t>respaldos de la compra</a:t>
            </a:r>
            <a:r>
              <a:rPr lang="es-MX" sz="1600" dirty="0">
                <a:solidFill>
                  <a:srgbClr val="008BB0"/>
                </a:solidFill>
              </a:rPr>
              <a:t> deben cargarse a SAP por parte de </a:t>
            </a:r>
            <a:r>
              <a:rPr lang="es-MX" sz="1600" b="1" dirty="0">
                <a:solidFill>
                  <a:srgbClr val="008BB0"/>
                </a:solidFill>
              </a:rPr>
              <a:t>compras</a:t>
            </a:r>
            <a:r>
              <a:rPr lang="es-MX" sz="1600" dirty="0">
                <a:solidFill>
                  <a:srgbClr val="008BB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sz="1600" dirty="0">
              <a:solidFill>
                <a:srgbClr val="008BB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  <a:latin typeface="Calibri (Body)"/>
              </a:rPr>
              <a:t>Recordar que el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proceso de compras 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es una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responsabilidad compartida</a:t>
            </a:r>
            <a:r>
              <a:rPr lang="es-MX" sz="1600" dirty="0">
                <a:solidFill>
                  <a:srgbClr val="008BB0"/>
                </a:solidFill>
                <a:highlight>
                  <a:srgbClr val="FFFF00"/>
                </a:highlight>
                <a:latin typeface="Calibri (Body)"/>
              </a:rPr>
              <a:t>, hasta el cierre de esta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(usuario-compras).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sz="1600" dirty="0">
              <a:solidFill>
                <a:srgbClr val="008BB0"/>
              </a:solidFill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  <a:latin typeface="Calibri (Body)"/>
              </a:rPr>
              <a:t>En caso de que el proveedor solicite información de sus pagos, indicarle que lo puede  consulte directo en el portal </a:t>
            </a:r>
            <a:r>
              <a:rPr lang="en-US" sz="1600" i="0" u="sng" dirty="0">
                <a:solidFill>
                  <a:srgbClr val="008BB0"/>
                </a:solidFill>
                <a:effectLst/>
                <a:latin typeface="Calibri (Body)"/>
                <a:hlinkClick r:id="rId2" tooltip="https://collaboration.mabempresa.com/irj/por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https://collaboration.mabempresa.com/irj/portal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  poniendo en copia a compras.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sz="1600" dirty="0">
              <a:solidFill>
                <a:srgbClr val="008BB0"/>
              </a:solidFill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>
                <a:solidFill>
                  <a:srgbClr val="008BB0"/>
                </a:solidFill>
                <a:latin typeface="Calibri (Body)"/>
              </a:rPr>
              <a:t>Si cualquier proveedor notifica algún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cambio de (correo electrónico, cuenta bancaria, razón social, accionistas),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 se debe notificar a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compras</a:t>
            </a:r>
            <a:r>
              <a:rPr lang="es-MX" sz="1600" dirty="0">
                <a:solidFill>
                  <a:srgbClr val="008BB0"/>
                </a:solidFill>
                <a:latin typeface="Calibri (Body)"/>
              </a:rPr>
              <a:t> para realizar el cambio en sistema por parte del </a:t>
            </a:r>
            <a:r>
              <a:rPr lang="es-MX" sz="1600" b="1" dirty="0">
                <a:solidFill>
                  <a:srgbClr val="008BB0"/>
                </a:solidFill>
                <a:latin typeface="Calibri (Body)"/>
              </a:rPr>
              <a:t>Negociador.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E479B-B5D1-9C1B-3A57-851C4D8D477F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B4500-9D69-B762-A3EA-8DB0C9F43A88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66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5B58D6-CB6F-410D-AEF9-B833DD3A5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025" y="1052696"/>
            <a:ext cx="5918053" cy="823912"/>
          </a:xfrm>
        </p:spPr>
        <p:txBody>
          <a:bodyPr anchor="ctr">
            <a:normAutofit/>
          </a:bodyPr>
          <a:lstStyle/>
          <a:p>
            <a:r>
              <a:rPr lang="es-MX" sz="3200" u="sng" dirty="0">
                <a:solidFill>
                  <a:schemeClr val="bg1"/>
                </a:solidFill>
              </a:rPr>
              <a:t>Usuario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72366F-63A5-485F-8D58-4A1CAA3F4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025" y="1996966"/>
            <a:ext cx="6350654" cy="482127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Qué </a:t>
            </a:r>
            <a:r>
              <a:rPr lang="es-MX" b="1" dirty="0"/>
              <a:t>SI debe hacer</a:t>
            </a:r>
            <a:r>
              <a:rPr lang="es-MX" dirty="0"/>
              <a:t>, relacionado con COMPRAS</a:t>
            </a:r>
          </a:p>
          <a:p>
            <a:r>
              <a:rPr lang="es-MX" b="1" dirty="0"/>
              <a:t>Experto técnico </a:t>
            </a:r>
            <a:r>
              <a:rPr lang="es-MX" dirty="0"/>
              <a:t>que valida la solución y al proveedor</a:t>
            </a:r>
          </a:p>
          <a:p>
            <a:r>
              <a:rPr lang="es-MX" dirty="0"/>
              <a:t>Generación de </a:t>
            </a:r>
            <a:r>
              <a:rPr lang="es-MX" b="1" dirty="0"/>
              <a:t>Solicitud de Pedidos</a:t>
            </a:r>
          </a:p>
          <a:p>
            <a:r>
              <a:rPr lang="es-MX" b="1" dirty="0"/>
              <a:t>Solicitud de cotizaciones </a:t>
            </a:r>
            <a:r>
              <a:rPr lang="es-MX" dirty="0"/>
              <a:t>a proveedores aprobados </a:t>
            </a:r>
            <a:r>
              <a:rPr lang="es-MX" b="1" dirty="0"/>
              <a:t>a través del Comprador y/o Negociador</a:t>
            </a:r>
          </a:p>
          <a:p>
            <a:r>
              <a:rPr lang="es-MX" b="1" dirty="0"/>
              <a:t>Ingresa facturas </a:t>
            </a:r>
            <a:r>
              <a:rPr lang="es-MX" dirty="0"/>
              <a:t>al almacén</a:t>
            </a:r>
          </a:p>
          <a:p>
            <a:r>
              <a:rPr lang="es-MX" dirty="0"/>
              <a:t>Participar en la </a:t>
            </a:r>
            <a:r>
              <a:rPr lang="es-MX" b="1" dirty="0"/>
              <a:t>selección de proveedor</a:t>
            </a:r>
          </a:p>
          <a:p>
            <a:r>
              <a:rPr lang="es-MX" b="1" dirty="0"/>
              <a:t>¿Quienes?</a:t>
            </a:r>
            <a:r>
              <a:rPr lang="es-MX" dirty="0"/>
              <a:t> </a:t>
            </a:r>
            <a:r>
              <a:rPr lang="es-MX" dirty="0">
                <a:highlight>
                  <a:srgbClr val="FFFF00"/>
                </a:highlight>
              </a:rPr>
              <a:t>AMES, RH, MTTO, MFRA, INGRIA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Qué </a:t>
            </a:r>
            <a:r>
              <a:rPr lang="es-MX" b="1" dirty="0"/>
              <a:t>NO debe hacer</a:t>
            </a:r>
            <a:r>
              <a:rPr lang="es-MX" dirty="0"/>
              <a:t>, relacionado con COMPRAS</a:t>
            </a:r>
          </a:p>
          <a:p>
            <a:r>
              <a:rPr lang="es-MX" dirty="0"/>
              <a:t>Negociaciones en temas comerciales</a:t>
            </a:r>
          </a:p>
          <a:p>
            <a:r>
              <a:rPr lang="es-MX" dirty="0"/>
              <a:t>Contratos</a:t>
            </a:r>
          </a:p>
          <a:p>
            <a:r>
              <a:rPr lang="es-MX" dirty="0"/>
              <a:t>Licitaciones</a:t>
            </a:r>
          </a:p>
          <a:p>
            <a:r>
              <a:rPr lang="es-MX" dirty="0"/>
              <a:t>Acuerdos comerciales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DA0FB7-9D18-4563-B4DD-8329301A76B4}"/>
              </a:ext>
            </a:extLst>
          </p:cNvPr>
          <p:cNvCxnSpPr/>
          <p:nvPr/>
        </p:nvCxnSpPr>
        <p:spPr>
          <a:xfrm>
            <a:off x="6431280" y="980660"/>
            <a:ext cx="0" cy="5565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831F7B3A-6C3E-4169-AE7F-4C481C3FE842}"/>
              </a:ext>
            </a:extLst>
          </p:cNvPr>
          <p:cNvSpPr txBox="1">
            <a:spLocks/>
          </p:cNvSpPr>
          <p:nvPr/>
        </p:nvSpPr>
        <p:spPr>
          <a:xfrm>
            <a:off x="0" y="296410"/>
            <a:ext cx="4845933" cy="4962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Alcance y Actividades ACTUALES relacionadas con Negociación 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367B08A9-E14C-4AD7-9928-2A2116B39752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6253479" y="570918"/>
          <a:ext cx="5819250" cy="3584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ontent Placeholder 12">
            <a:extLst>
              <a:ext uri="{FF2B5EF4-FFF2-40B4-BE49-F238E27FC236}">
                <a16:creationId xmlns:a16="http://schemas.microsoft.com/office/drawing/2014/main" id="{4F4C5909-DA0A-4F8C-A137-3705AD6EE7E5}"/>
              </a:ext>
            </a:extLst>
          </p:cNvPr>
          <p:cNvGraphicFramePr>
            <a:graphicFrameLocks/>
          </p:cNvGraphicFramePr>
          <p:nvPr/>
        </p:nvGraphicFramePr>
        <p:xfrm>
          <a:off x="6456680" y="3774029"/>
          <a:ext cx="5412848" cy="2513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662C2E2-6E1C-4781-8851-D660BF1F80D2}"/>
              </a:ext>
            </a:extLst>
          </p:cNvPr>
          <p:cNvSpPr txBox="1"/>
          <p:nvPr/>
        </p:nvSpPr>
        <p:spPr>
          <a:xfrm>
            <a:off x="6841571" y="6448912"/>
            <a:ext cx="464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*</a:t>
            </a:r>
            <a:r>
              <a:rPr lang="en-US" i="1" dirty="0" err="1"/>
              <a:t>Análisis</a:t>
            </a:r>
            <a:r>
              <a:rPr lang="en-US" i="1" dirty="0"/>
              <a:t> </a:t>
            </a:r>
            <a:r>
              <a:rPr lang="en-US" i="1" dirty="0" err="1"/>
              <a:t>realizado</a:t>
            </a:r>
            <a:r>
              <a:rPr lang="en-US" i="1" dirty="0"/>
              <a:t> con RH y Compras </a:t>
            </a:r>
            <a:r>
              <a:rPr lang="en-US" i="1" dirty="0" err="1"/>
              <a:t>Indirectos</a:t>
            </a:r>
            <a:endParaRPr lang="es-MX" i="1" dirty="0"/>
          </a:p>
        </p:txBody>
      </p:sp>
    </p:spTree>
    <p:extLst>
      <p:ext uri="{BB962C8B-B14F-4D97-AF65-F5344CB8AC3E}">
        <p14:creationId xmlns:p14="http://schemas.microsoft.com/office/powerpoint/2010/main" val="1822100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5B58D6-CB6F-410D-AEF9-B833DD3A5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635" y="980660"/>
            <a:ext cx="5918053" cy="823912"/>
          </a:xfrm>
        </p:spPr>
        <p:txBody>
          <a:bodyPr anchor="ctr">
            <a:normAutofit/>
          </a:bodyPr>
          <a:lstStyle/>
          <a:p>
            <a:r>
              <a:rPr lang="es-MX" sz="3200" u="sng" dirty="0">
                <a:solidFill>
                  <a:schemeClr val="bg1"/>
                </a:solidFill>
              </a:rPr>
              <a:t>Comprador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72366F-63A5-485F-8D58-4A1CAA3F4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026" y="1996966"/>
            <a:ext cx="5918054" cy="4682129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Generación de Pedidos y </a:t>
            </a:r>
            <a:r>
              <a:rPr lang="es-MX" b="1" dirty="0"/>
              <a:t>Órdenes de Compra</a:t>
            </a:r>
          </a:p>
          <a:p>
            <a:r>
              <a:rPr lang="es-MX" dirty="0"/>
              <a:t>Solicitud de Cotizaciones y negociaciones con </a:t>
            </a:r>
            <a:r>
              <a:rPr lang="es-MX" b="1" dirty="0"/>
              <a:t>proveedores NO estratégicos, spot.</a:t>
            </a:r>
          </a:p>
          <a:p>
            <a:r>
              <a:rPr lang="es-MX" dirty="0"/>
              <a:t>Asegurar que la proveeduría y usuarios cumplan con el </a:t>
            </a:r>
            <a:r>
              <a:rPr lang="es-MX" b="1" dirty="0"/>
              <a:t>proceso operativo </a:t>
            </a:r>
            <a:r>
              <a:rPr lang="es-MX" dirty="0"/>
              <a:t>de compra</a:t>
            </a:r>
          </a:p>
          <a:p>
            <a:r>
              <a:rPr lang="es-MX" dirty="0"/>
              <a:t>Depuración de </a:t>
            </a:r>
            <a:r>
              <a:rPr lang="es-MX" b="1" dirty="0"/>
              <a:t>facturas en VIM</a:t>
            </a:r>
          </a:p>
          <a:p>
            <a:r>
              <a:rPr lang="es-MX" b="1" dirty="0"/>
              <a:t>Capacitación y comunicación </a:t>
            </a:r>
            <a:r>
              <a:rPr lang="es-MX" dirty="0"/>
              <a:t>operativa a proveedores</a:t>
            </a:r>
          </a:p>
          <a:p>
            <a:r>
              <a:rPr lang="es-MX" b="1" dirty="0"/>
              <a:t>Soporte</a:t>
            </a:r>
            <a:r>
              <a:rPr lang="es-MX" dirty="0"/>
              <a:t> a los usuarios en planta en el proceso de compra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AAE6E0-08D9-49E7-A5BA-3655AC40E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3313" y="1010109"/>
            <a:ext cx="5887263" cy="823912"/>
          </a:xfrm>
        </p:spPr>
        <p:txBody>
          <a:bodyPr anchor="ctr">
            <a:normAutofit/>
          </a:bodyPr>
          <a:lstStyle/>
          <a:p>
            <a:r>
              <a:rPr lang="es-MX" sz="3200" u="sng" dirty="0"/>
              <a:t>Negociador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D12B65F-147A-4A28-A906-0D7E9F8D8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8703" y="1996965"/>
            <a:ext cx="5887265" cy="4682129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Generación de la </a:t>
            </a:r>
            <a:r>
              <a:rPr lang="es-MX" b="1" dirty="0"/>
              <a:t>Estrategia de Compra</a:t>
            </a:r>
            <a:r>
              <a:rPr lang="es-MX" dirty="0"/>
              <a:t> por Categoría</a:t>
            </a:r>
          </a:p>
          <a:p>
            <a:r>
              <a:rPr lang="es-MX" dirty="0"/>
              <a:t>Generación de </a:t>
            </a:r>
            <a:r>
              <a:rPr lang="es-MX" b="1" dirty="0"/>
              <a:t>Contratos</a:t>
            </a:r>
            <a:r>
              <a:rPr lang="es-MX" dirty="0"/>
              <a:t> y Acuerdos Comerciales con </a:t>
            </a:r>
            <a:r>
              <a:rPr lang="es-MX" b="1" dirty="0"/>
              <a:t>proveedores estratégicos</a:t>
            </a:r>
          </a:p>
          <a:p>
            <a:r>
              <a:rPr lang="es-MX" dirty="0"/>
              <a:t>Definir y Controlar </a:t>
            </a:r>
            <a:r>
              <a:rPr lang="es-MX" b="1" dirty="0"/>
              <a:t>Precios</a:t>
            </a:r>
          </a:p>
          <a:p>
            <a:r>
              <a:rPr lang="es-MX" dirty="0"/>
              <a:t>Gestión de Licitaciones</a:t>
            </a:r>
          </a:p>
          <a:p>
            <a:r>
              <a:rPr lang="es-MX" dirty="0"/>
              <a:t>Evaluación, Selección y </a:t>
            </a:r>
            <a:r>
              <a:rPr lang="es-MX" b="1" dirty="0"/>
              <a:t>Alta de Proveedores</a:t>
            </a:r>
          </a:p>
          <a:p>
            <a:r>
              <a:rPr lang="es-MX" dirty="0"/>
              <a:t>Capitalización de </a:t>
            </a:r>
            <a:r>
              <a:rPr lang="es-MX" b="1" dirty="0"/>
              <a:t>Ahorros</a:t>
            </a:r>
          </a:p>
          <a:p>
            <a:r>
              <a:rPr lang="es-MX" dirty="0"/>
              <a:t>Soporte a las áreas de compras de indirectos de las operaciones y usuarios</a:t>
            </a:r>
          </a:p>
          <a:p>
            <a:endParaRPr lang="es-MX" dirty="0"/>
          </a:p>
          <a:p>
            <a:endParaRPr lang="es-MX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DA0FB7-9D18-4563-B4DD-8329301A76B4}"/>
              </a:ext>
            </a:extLst>
          </p:cNvPr>
          <p:cNvCxnSpPr/>
          <p:nvPr/>
        </p:nvCxnSpPr>
        <p:spPr>
          <a:xfrm>
            <a:off x="6096000" y="980660"/>
            <a:ext cx="0" cy="5565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831F7B3A-6C3E-4169-AE7F-4C481C3FE842}"/>
              </a:ext>
            </a:extLst>
          </p:cNvPr>
          <p:cNvSpPr txBox="1">
            <a:spLocks/>
          </p:cNvSpPr>
          <p:nvPr/>
        </p:nvSpPr>
        <p:spPr>
          <a:xfrm>
            <a:off x="-454573" y="292000"/>
            <a:ext cx="4963510" cy="4962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Alcance y Responsabilidades ACTUALES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2476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5FCCCF-2209-3070-2003-C86A67762673}"/>
              </a:ext>
            </a:extLst>
          </p:cNvPr>
          <p:cNvSpPr txBox="1"/>
          <p:nvPr/>
        </p:nvSpPr>
        <p:spPr>
          <a:xfrm>
            <a:off x="0" y="1148582"/>
            <a:ext cx="482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RH SISTEMA CONSECUENCIAS </a:t>
            </a:r>
          </a:p>
        </p:txBody>
      </p:sp>
      <p:sp>
        <p:nvSpPr>
          <p:cNvPr id="11" name="Flowchart: Extract 10">
            <a:extLst>
              <a:ext uri="{FF2B5EF4-FFF2-40B4-BE49-F238E27FC236}">
                <a16:creationId xmlns:a16="http://schemas.microsoft.com/office/drawing/2014/main" id="{2440B83D-0153-7E06-EB4C-1C5E7CCF1D3C}"/>
              </a:ext>
            </a:extLst>
          </p:cNvPr>
          <p:cNvSpPr/>
          <p:nvPr/>
        </p:nvSpPr>
        <p:spPr>
          <a:xfrm flipH="1">
            <a:off x="1408922" y="1912776"/>
            <a:ext cx="7763070" cy="4469995"/>
          </a:xfrm>
          <a:prstGeom prst="flowChartExtract">
            <a:avLst/>
          </a:prstGeom>
          <a:gradFill flip="none" rotWithShape="1">
            <a:gsLst>
              <a:gs pos="0">
                <a:srgbClr val="008BB0">
                  <a:shade val="30000"/>
                  <a:satMod val="115000"/>
                </a:srgbClr>
              </a:gs>
              <a:gs pos="50000">
                <a:srgbClr val="008BB0">
                  <a:shade val="67500"/>
                  <a:satMod val="115000"/>
                </a:srgbClr>
              </a:gs>
              <a:gs pos="100000">
                <a:srgbClr val="008BB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8BB0"/>
              </a:highlight>
            </a:endParaRP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797D48A1-1683-43ED-D398-866709475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468" y="5586315"/>
            <a:ext cx="4057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ES_tradnl" sz="3600" b="1" dirty="0">
                <a:solidFill>
                  <a:srgbClr val="EAEAEA"/>
                </a:solidFill>
                <a:latin typeface="Arial" pitchFamily="34" charset="0"/>
              </a:rPr>
              <a:t>Entrevista laboral</a:t>
            </a:r>
            <a:endParaRPr lang="es-ES_tradnl" sz="3200" dirty="0">
              <a:solidFill>
                <a:srgbClr val="EAEAEA"/>
              </a:solidFill>
              <a:latin typeface="Arial" pitchFamily="34" charset="0"/>
            </a:endParaRP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FCBB258E-267E-0A97-09E6-D18C4B79C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094" y="4851771"/>
            <a:ext cx="30067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ES_tradnl" sz="3200" b="1" dirty="0">
                <a:solidFill>
                  <a:srgbClr val="EAEAEA"/>
                </a:solidFill>
                <a:latin typeface="Arial" pitchFamily="34" charset="0"/>
              </a:rPr>
              <a:t>Amonestación</a:t>
            </a:r>
            <a:endParaRPr lang="es-ES_tradnl" sz="2800" dirty="0">
              <a:solidFill>
                <a:srgbClr val="EAEAEA"/>
              </a:solidFill>
              <a:latin typeface="Arial" pitchFamily="34" charset="0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B6C88186-A229-1C4E-F474-7C90F6075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775" y="4181195"/>
            <a:ext cx="2033186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ES_tradnl" sz="2800" b="1" dirty="0">
                <a:solidFill>
                  <a:srgbClr val="EAEAEA"/>
                </a:solidFill>
                <a:latin typeface="Arial" pitchFamily="34" charset="0"/>
              </a:rPr>
              <a:t>Reporte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DA9C463C-5E48-46A7-A645-256EE6482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2188" y="2982164"/>
            <a:ext cx="13965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ES_tradnl" sz="2000" b="1" dirty="0">
                <a:solidFill>
                  <a:srgbClr val="EAEAEA"/>
                </a:solidFill>
                <a:latin typeface="Arial" pitchFamily="34" charset="0"/>
              </a:rPr>
              <a:t>Rescisión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40C6A2E6-5292-935A-2C5B-7FAAF2328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775" y="3549521"/>
            <a:ext cx="19271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ES_tradnl" b="1" dirty="0">
                <a:solidFill>
                  <a:srgbClr val="EAEAEA"/>
                </a:solidFill>
                <a:latin typeface="Arial" pitchFamily="34" charset="0"/>
              </a:rPr>
              <a:t>Suspensión</a:t>
            </a:r>
            <a:endParaRPr lang="es-ES_tradnl" dirty="0">
              <a:solidFill>
                <a:srgbClr val="EAEAEA"/>
              </a:solidFill>
              <a:latin typeface="Arial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208261-3ED7-9609-2EB5-1A6F15B4F579}"/>
              </a:ext>
            </a:extLst>
          </p:cNvPr>
          <p:cNvCxnSpPr>
            <a:cxnSpLocks/>
          </p:cNvCxnSpPr>
          <p:nvPr/>
        </p:nvCxnSpPr>
        <p:spPr>
          <a:xfrm>
            <a:off x="4292082" y="3549521"/>
            <a:ext cx="614215" cy="793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D9D258-A6CF-FCF3-2D65-98E8C4EE9A99}"/>
              </a:ext>
            </a:extLst>
          </p:cNvPr>
          <p:cNvCxnSpPr>
            <a:cxnSpLocks/>
          </p:cNvCxnSpPr>
          <p:nvPr/>
        </p:nvCxnSpPr>
        <p:spPr>
          <a:xfrm>
            <a:off x="4161454" y="3475727"/>
            <a:ext cx="764507" cy="867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0EB09F9-6303-991E-4671-46098282577E}"/>
              </a:ext>
            </a:extLst>
          </p:cNvPr>
          <p:cNvCxnSpPr>
            <a:cxnSpLocks/>
          </p:cNvCxnSpPr>
          <p:nvPr/>
        </p:nvCxnSpPr>
        <p:spPr>
          <a:xfrm flipV="1">
            <a:off x="4020236" y="3486820"/>
            <a:ext cx="2540439" cy="1325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50DBA0-6D6F-2127-0617-8846DC49530D}"/>
              </a:ext>
            </a:extLst>
          </p:cNvPr>
          <p:cNvCxnSpPr>
            <a:cxnSpLocks/>
          </p:cNvCxnSpPr>
          <p:nvPr/>
        </p:nvCxnSpPr>
        <p:spPr>
          <a:xfrm flipV="1">
            <a:off x="3034139" y="4719233"/>
            <a:ext cx="4595693" cy="22363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54AA79-E514-08CD-AFCE-21789E759CB0}"/>
              </a:ext>
            </a:extLst>
          </p:cNvPr>
          <p:cNvCxnSpPr>
            <a:cxnSpLocks/>
          </p:cNvCxnSpPr>
          <p:nvPr/>
        </p:nvCxnSpPr>
        <p:spPr>
          <a:xfrm flipV="1">
            <a:off x="2300497" y="5435971"/>
            <a:ext cx="6002093" cy="4261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6C80D82-71FE-3A1A-2557-E4D44CB83317}"/>
              </a:ext>
            </a:extLst>
          </p:cNvPr>
          <p:cNvCxnSpPr>
            <a:cxnSpLocks/>
            <a:stCxn id="11" idx="3"/>
            <a:endCxn id="11" idx="1"/>
          </p:cNvCxnSpPr>
          <p:nvPr/>
        </p:nvCxnSpPr>
        <p:spPr>
          <a:xfrm>
            <a:off x="3349689" y="4147774"/>
            <a:ext cx="388153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llout: Line 43">
            <a:extLst>
              <a:ext uri="{FF2B5EF4-FFF2-40B4-BE49-F238E27FC236}">
                <a16:creationId xmlns:a16="http://schemas.microsoft.com/office/drawing/2014/main" id="{407E3F05-5993-CA2C-52C7-710B0BCA6013}"/>
              </a:ext>
            </a:extLst>
          </p:cNvPr>
          <p:cNvSpPr/>
          <p:nvPr/>
        </p:nvSpPr>
        <p:spPr>
          <a:xfrm>
            <a:off x="8560838" y="3830215"/>
            <a:ext cx="1927131" cy="350980"/>
          </a:xfrm>
          <a:prstGeom prst="borderCallout1">
            <a:avLst/>
          </a:prstGeom>
          <a:solidFill>
            <a:srgbClr val="008B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s-MX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Etapa de confrontación</a:t>
            </a:r>
          </a:p>
        </p:txBody>
      </p:sp>
      <p:sp>
        <p:nvSpPr>
          <p:cNvPr id="45" name="Callout: Line 44">
            <a:extLst>
              <a:ext uri="{FF2B5EF4-FFF2-40B4-BE49-F238E27FC236}">
                <a16:creationId xmlns:a16="http://schemas.microsoft.com/office/drawing/2014/main" id="{90DC72F4-96AD-DB0E-DFF9-6AB95CBD5BBD}"/>
              </a:ext>
            </a:extLst>
          </p:cNvPr>
          <p:cNvSpPr/>
          <p:nvPr/>
        </p:nvSpPr>
        <p:spPr>
          <a:xfrm>
            <a:off x="9259078" y="5508171"/>
            <a:ext cx="2845836" cy="350980"/>
          </a:xfrm>
          <a:prstGeom prst="borderCallout1">
            <a:avLst/>
          </a:prstGeom>
          <a:solidFill>
            <a:srgbClr val="008B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s-MX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Etapa de diálogo y sensibilización</a:t>
            </a:r>
          </a:p>
        </p:txBody>
      </p:sp>
      <p:sp>
        <p:nvSpPr>
          <p:cNvPr id="48" name="Callout: Line 47">
            <a:extLst>
              <a:ext uri="{FF2B5EF4-FFF2-40B4-BE49-F238E27FC236}">
                <a16:creationId xmlns:a16="http://schemas.microsoft.com/office/drawing/2014/main" id="{EEEA0FBA-C09F-1E58-877C-A656F03F7403}"/>
              </a:ext>
            </a:extLst>
          </p:cNvPr>
          <p:cNvSpPr/>
          <p:nvPr/>
        </p:nvSpPr>
        <p:spPr>
          <a:xfrm flipH="1">
            <a:off x="640434" y="3198512"/>
            <a:ext cx="2159808" cy="475862"/>
          </a:xfrm>
          <a:prstGeom prst="borderCallout1">
            <a:avLst/>
          </a:prstGeom>
          <a:solidFill>
            <a:srgbClr val="008B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MX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Aplicación de medidas disciplinarias</a:t>
            </a:r>
          </a:p>
        </p:txBody>
      </p:sp>
      <p:sp>
        <p:nvSpPr>
          <p:cNvPr id="49" name="Callout: Line 48">
            <a:extLst>
              <a:ext uri="{FF2B5EF4-FFF2-40B4-BE49-F238E27FC236}">
                <a16:creationId xmlns:a16="http://schemas.microsoft.com/office/drawing/2014/main" id="{18240FEF-6933-6B0B-EAB3-A4A6604A3985}"/>
              </a:ext>
            </a:extLst>
          </p:cNvPr>
          <p:cNvSpPr/>
          <p:nvPr/>
        </p:nvSpPr>
        <p:spPr>
          <a:xfrm>
            <a:off x="7231224" y="2185588"/>
            <a:ext cx="2845836" cy="375306"/>
          </a:xfrm>
          <a:prstGeom prst="borderCallout1">
            <a:avLst/>
          </a:prstGeom>
          <a:solidFill>
            <a:srgbClr val="008B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defRPr/>
            </a:pPr>
            <a:r>
              <a:rPr lang="es-MX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Terminación de la relación laboral </a:t>
            </a:r>
          </a:p>
          <a:p>
            <a:pPr algn="just">
              <a:defRPr/>
            </a:pPr>
            <a:endParaRPr lang="es-MX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Callout: Line 49">
            <a:extLst>
              <a:ext uri="{FF2B5EF4-FFF2-40B4-BE49-F238E27FC236}">
                <a16:creationId xmlns:a16="http://schemas.microsoft.com/office/drawing/2014/main" id="{275D9091-4853-B478-EE4B-92DA13399B1D}"/>
              </a:ext>
            </a:extLst>
          </p:cNvPr>
          <p:cNvSpPr/>
          <p:nvPr/>
        </p:nvSpPr>
        <p:spPr>
          <a:xfrm flipH="1">
            <a:off x="233264" y="4434230"/>
            <a:ext cx="1502605" cy="475862"/>
          </a:xfrm>
          <a:prstGeom prst="borderCallout1">
            <a:avLst>
              <a:gd name="adj1" fmla="val 18750"/>
              <a:gd name="adj2" fmla="val -8333"/>
              <a:gd name="adj3" fmla="val 108579"/>
              <a:gd name="adj4" fmla="val -56962"/>
            </a:avLst>
          </a:prstGeom>
          <a:solidFill>
            <a:srgbClr val="008B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MX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Etapa de exhortación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5E7299-E23D-1CF7-96CC-E701099AC9C2}"/>
              </a:ext>
            </a:extLst>
          </p:cNvPr>
          <p:cNvSpPr txBox="1"/>
          <p:nvPr/>
        </p:nvSpPr>
        <p:spPr>
          <a:xfrm>
            <a:off x="-108830" y="43883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Cualquier desviación al proceso  de compras</a:t>
            </a:r>
          </a:p>
          <a:p>
            <a:r>
              <a:rPr lang="es-MX" b="1" dirty="0">
                <a:solidFill>
                  <a:schemeClr val="bg1"/>
                </a:solidFill>
              </a:rPr>
              <a:t> indirectos, se aplicará sistema de consecuencias</a:t>
            </a:r>
          </a:p>
        </p:txBody>
      </p:sp>
      <p:sp>
        <p:nvSpPr>
          <p:cNvPr id="53" name="Oval 42">
            <a:extLst>
              <a:ext uri="{FF2B5EF4-FFF2-40B4-BE49-F238E27FC236}">
                <a16:creationId xmlns:a16="http://schemas.microsoft.com/office/drawing/2014/main" id="{74C0186B-3BE3-2F70-B227-3655ECE6F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389" y="1998301"/>
            <a:ext cx="1154693" cy="983863"/>
          </a:xfrm>
          <a:prstGeom prst="ellipse">
            <a:avLst/>
          </a:prstGeom>
          <a:solidFill>
            <a:srgbClr val="FF0000">
              <a:alpha val="67842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000" dirty="0">
                <a:latin typeface="Arial Rounded MT Bold" pitchFamily="34" charset="0"/>
              </a:rPr>
              <a:t>2ª Reincidencia</a:t>
            </a:r>
          </a:p>
          <a:p>
            <a:pPr algn="ctr"/>
            <a:r>
              <a:rPr lang="es-ES_tradnl" sz="1000" dirty="0">
                <a:latin typeface="Arial Rounded MT Bold" pitchFamily="34" charset="0"/>
              </a:rPr>
              <a:t>O</a:t>
            </a:r>
          </a:p>
          <a:p>
            <a:pPr algn="ctr"/>
            <a:r>
              <a:rPr lang="es-ES_tradnl" sz="1000" dirty="0">
                <a:latin typeface="Arial Rounded MT Bold" pitchFamily="34" charset="0"/>
              </a:rPr>
              <a:t>Faltas Graves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FBAA87-9E49-7075-CAF1-FFE1D6471F03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6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CE479B-B5D1-9C1B-3A57-851C4D8D477F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AB995-10F7-3ED6-C7EA-3F5140CFAD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58" r="5102" b="5172"/>
          <a:stretch/>
        </p:blipFill>
        <p:spPr>
          <a:xfrm>
            <a:off x="1371601" y="2093367"/>
            <a:ext cx="8957388" cy="45220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C0FA3A-7C5C-985A-E6A5-C4EC69E07D02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¿Donde la encuentro?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C0B01B-1CAF-4573-5C89-7511E7CCF1E8}"/>
              </a:ext>
            </a:extLst>
          </p:cNvPr>
          <p:cNvSpPr/>
          <p:nvPr/>
        </p:nvSpPr>
        <p:spPr>
          <a:xfrm>
            <a:off x="2066925" y="5810251"/>
            <a:ext cx="1666875" cy="3429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B3725C-2D3D-850A-FB8C-41C9638CB6F0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6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CE479B-B5D1-9C1B-3A57-851C4D8D477F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0FA3A-7C5C-985A-E6A5-C4EC69E07D02}"/>
              </a:ext>
            </a:extLst>
          </p:cNvPr>
          <p:cNvSpPr txBox="1"/>
          <p:nvPr/>
        </p:nvSpPr>
        <p:spPr>
          <a:xfrm>
            <a:off x="233265" y="1216089"/>
            <a:ext cx="405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¿Dónde la encuentro?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89798-0DA0-3BCD-C511-430161B0C4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40" t="29882" r="13984" b="23750"/>
          <a:stretch/>
        </p:blipFill>
        <p:spPr>
          <a:xfrm>
            <a:off x="1266825" y="1984014"/>
            <a:ext cx="9220200" cy="4190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E96792-529F-7B39-9D19-E9D8375A5FBC}"/>
              </a:ext>
            </a:extLst>
          </p:cNvPr>
          <p:cNvSpPr txBox="1"/>
          <p:nvPr/>
        </p:nvSpPr>
        <p:spPr>
          <a:xfrm>
            <a:off x="1381125" y="6333110"/>
            <a:ext cx="10048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https://politicas.mabe.cc/Produccion/Publicas/Cadena%20de%20Valor/COMPRAS%20INDIRECTAS.pdf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99ABD7-1CD8-7C49-071C-6B37894DA973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83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7AB2A61-BC0D-5CF0-B45A-8FFB0802E188}"/>
              </a:ext>
            </a:extLst>
          </p:cNvPr>
          <p:cNvSpPr txBox="1"/>
          <p:nvPr/>
        </p:nvSpPr>
        <p:spPr>
          <a:xfrm>
            <a:off x="2509936" y="2281334"/>
            <a:ext cx="6568750" cy="332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s-MX" sz="20000" dirty="0">
                <a:solidFill>
                  <a:srgbClr val="008BB0"/>
                </a:solidFill>
                <a:latin typeface="Bodoni MT Poster Compressed" panose="02070706080601050204" pitchFamily="18" charset="0"/>
              </a:rPr>
              <a:t>¡GRACIAS!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8291F-363F-1D2E-5F6C-839279311A25}"/>
              </a:ext>
            </a:extLst>
          </p:cNvPr>
          <p:cNvSpPr txBox="1"/>
          <p:nvPr/>
        </p:nvSpPr>
        <p:spPr>
          <a:xfrm>
            <a:off x="102637" y="475229"/>
            <a:ext cx="405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itchFamily="2" charset="0"/>
                <a:ea typeface="Roboto" pitchFamily="2" charset="0"/>
              </a:rPr>
              <a:t>Política de compras indirectas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D3BE9-0D5E-5EA9-A03B-E62F31C9667C}"/>
              </a:ext>
            </a:extLst>
          </p:cNvPr>
          <p:cNvSpPr/>
          <p:nvPr/>
        </p:nvSpPr>
        <p:spPr>
          <a:xfrm>
            <a:off x="9122229" y="0"/>
            <a:ext cx="2967134" cy="1396140"/>
          </a:xfrm>
          <a:prstGeom prst="rect">
            <a:avLst/>
          </a:prstGeom>
          <a:solidFill>
            <a:srgbClr val="E6E8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88586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ACB63DF0BB054EB57DD347748B94D9" ma:contentTypeVersion="2" ma:contentTypeDescription="Crear nuevo documento." ma:contentTypeScope="" ma:versionID="1589cba548652addaff1ef810f3d362e">
  <xsd:schema xmlns:xsd="http://www.w3.org/2001/XMLSchema" xmlns:xs="http://www.w3.org/2001/XMLSchema" xmlns:p="http://schemas.microsoft.com/office/2006/metadata/properties" xmlns:ns2="2fb064b3-f698-434d-92c9-56d6720a66ab" targetNamespace="http://schemas.microsoft.com/office/2006/metadata/properties" ma:root="true" ma:fieldsID="483e0f163a0bd92c9c0795838ae3c811" ns2:_="">
    <xsd:import namespace="2fb064b3-f698-434d-92c9-56d6720a66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064b3-f698-434d-92c9-56d6720a66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571827-5DE5-4B97-B2C8-E95476CAF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C716BD-A6B0-4C4F-9633-FD46C5A1199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3F5D0F4-A69E-46B9-9E1F-4EBAFB179E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b064b3-f698-434d-92c9-56d6720a66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46607</TotalTime>
  <Words>2150</Words>
  <Application>Microsoft Office PowerPoint</Application>
  <PresentationFormat>Widescreen</PresentationFormat>
  <Paragraphs>281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34" baseType="lpstr">
      <vt:lpstr>Arial</vt:lpstr>
      <vt:lpstr>Arial Rounded MT Bold</vt:lpstr>
      <vt:lpstr>Bodoni MT Poster Compressed</vt:lpstr>
      <vt:lpstr>Calibri</vt:lpstr>
      <vt:lpstr>Calibri (Body)</vt:lpstr>
      <vt:lpstr>Calibri Light</vt:lpstr>
      <vt:lpstr>Calibri-Light</vt:lpstr>
      <vt:lpstr>Roboto</vt:lpstr>
      <vt:lpstr>Segoe UI Black</vt:lpstr>
      <vt:lpstr>Segoe UI Semibold</vt:lpstr>
      <vt:lpstr>Wingdings</vt:lpstr>
      <vt:lpstr>2_Custom Design</vt:lpstr>
      <vt:lpstr>3_Custom Design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Dalessandro, Aldana (ARG, HAE, HR)</dc:creator>
  <cp:lastModifiedBy>Blanca, Israel (MEX, DOM, MT)</cp:lastModifiedBy>
  <cp:revision>37</cp:revision>
  <dcterms:created xsi:type="dcterms:W3CDTF">2022-09-20T19:01:47Z</dcterms:created>
  <dcterms:modified xsi:type="dcterms:W3CDTF">2024-06-28T17:35:59Z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0x010100A5ACB63DF0BB054EB57DD347748B94D9</vt:lpwstr>
  </property>
</Properties>
</file>